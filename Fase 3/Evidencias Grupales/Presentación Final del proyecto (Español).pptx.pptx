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Glacial Indifference" charset="1" panose="00000000000000000000"/>
      <p:regular r:id="rId26"/>
    </p:embeddedFont>
    <p:embeddedFont>
      <p:font typeface="Glacial Indifference Bold" charset="1" panose="00000800000000000000"/>
      <p:regular r:id="rId27"/>
    </p:embeddedFont>
    <p:embeddedFont>
      <p:font typeface="Open Sans Bold" charset="1" panose="020B0806030504020204"/>
      <p:regular r:id="rId28"/>
    </p:embeddedFont>
    <p:embeddedFont>
      <p:font typeface="Contrail One" charset="1" panose="02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17" Target="../media/image28.png" Type="http://schemas.openxmlformats.org/officeDocument/2006/relationships/image"/><Relationship Id="rId18" Target="../media/image29.svg" Type="http://schemas.openxmlformats.org/officeDocument/2006/relationships/image"/><Relationship Id="rId19" Target="../media/image30.png" Type="http://schemas.openxmlformats.org/officeDocument/2006/relationships/image"/><Relationship Id="rId2" Target="../media/image13.png" Type="http://schemas.openxmlformats.org/officeDocument/2006/relationships/image"/><Relationship Id="rId20" Target="../media/image31.sv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46.png" Type="http://schemas.openxmlformats.org/officeDocument/2006/relationships/image"/><Relationship Id="rId13" Target="../media/image47.svg" Type="http://schemas.openxmlformats.org/officeDocument/2006/relationships/image"/><Relationship Id="rId14" Target="../media/image48.png" Type="http://schemas.openxmlformats.org/officeDocument/2006/relationships/image"/><Relationship Id="rId15" Target="../media/image49.svg" Type="http://schemas.openxmlformats.org/officeDocument/2006/relationships/image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13" Target="../media/image57.png" Type="http://schemas.openxmlformats.org/officeDocument/2006/relationships/image"/><Relationship Id="rId14" Target="../media/image58.svg" Type="http://schemas.openxmlformats.org/officeDocument/2006/relationships/image"/><Relationship Id="rId15" Target="../media/image59.png" Type="http://schemas.openxmlformats.org/officeDocument/2006/relationships/image"/><Relationship Id="rId16" Target="../media/image60.png" Type="http://schemas.openxmlformats.org/officeDocument/2006/relationships/image"/><Relationship Id="rId17" Target="../media/image61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66.png" Type="http://schemas.openxmlformats.org/officeDocument/2006/relationships/image"/><Relationship Id="rId5" Target="../media/image6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svg" Type="http://schemas.openxmlformats.org/officeDocument/2006/relationships/image"/><Relationship Id="rId4" Target="../media/image70.png" Type="http://schemas.openxmlformats.org/officeDocument/2006/relationships/image"/><Relationship Id="rId5" Target="../media/image71.svg" Type="http://schemas.openxmlformats.org/officeDocument/2006/relationships/image"/><Relationship Id="rId6" Target="../media/image72.png" Type="http://schemas.openxmlformats.org/officeDocument/2006/relationships/image"/><Relationship Id="rId7" Target="../media/image7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4.png" Type="http://schemas.openxmlformats.org/officeDocument/2006/relationships/image"/><Relationship Id="rId5" Target="../media/image75.png" Type="http://schemas.openxmlformats.org/officeDocument/2006/relationships/image"/><Relationship Id="rId6" Target="../media/image76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7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1485934" y="0"/>
            <a:ext cx="6802066" cy="7962952"/>
          </a:xfrm>
          <a:custGeom>
            <a:avLst/>
            <a:gdLst/>
            <a:ahLst/>
            <a:cxnLst/>
            <a:rect r="r" b="b" t="t" l="l"/>
            <a:pathLst>
              <a:path h="7962952" w="6802066">
                <a:moveTo>
                  <a:pt x="6802066" y="0"/>
                </a:moveTo>
                <a:lnTo>
                  <a:pt x="0" y="0"/>
                </a:lnTo>
                <a:lnTo>
                  <a:pt x="0" y="7962952"/>
                </a:lnTo>
                <a:lnTo>
                  <a:pt x="6802066" y="7962952"/>
                </a:lnTo>
                <a:lnTo>
                  <a:pt x="68020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037818" y="5960194"/>
            <a:ext cx="0" cy="19365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43661" y="200447"/>
            <a:ext cx="6804644" cy="2189199"/>
          </a:xfrm>
          <a:custGeom>
            <a:avLst/>
            <a:gdLst/>
            <a:ahLst/>
            <a:cxnLst/>
            <a:rect r="r" b="b" t="t" l="l"/>
            <a:pathLst>
              <a:path h="2189199" w="6804644">
                <a:moveTo>
                  <a:pt x="0" y="0"/>
                </a:moveTo>
                <a:lnTo>
                  <a:pt x="6804644" y="0"/>
                </a:lnTo>
                <a:lnTo>
                  <a:pt x="6804644" y="2189199"/>
                </a:lnTo>
                <a:lnTo>
                  <a:pt x="0" y="2189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83098" y="8597984"/>
            <a:ext cx="3770193" cy="1320698"/>
            <a:chOff x="0" y="0"/>
            <a:chExt cx="992973" cy="3478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2973" cy="347838"/>
            </a:xfrm>
            <a:custGeom>
              <a:avLst/>
              <a:gdLst/>
              <a:ahLst/>
              <a:cxnLst/>
              <a:rect r="r" b="b" t="t" l="l"/>
              <a:pathLst>
                <a:path h="347838" w="992973">
                  <a:moveTo>
                    <a:pt x="30802" y="0"/>
                  </a:moveTo>
                  <a:lnTo>
                    <a:pt x="962171" y="0"/>
                  </a:lnTo>
                  <a:cubicBezTo>
                    <a:pt x="979182" y="0"/>
                    <a:pt x="992973" y="13790"/>
                    <a:pt x="992973" y="30802"/>
                  </a:cubicBezTo>
                  <a:lnTo>
                    <a:pt x="992973" y="317036"/>
                  </a:lnTo>
                  <a:cubicBezTo>
                    <a:pt x="992973" y="325206"/>
                    <a:pt x="989728" y="333040"/>
                    <a:pt x="983951" y="338817"/>
                  </a:cubicBezTo>
                  <a:cubicBezTo>
                    <a:pt x="978175" y="344593"/>
                    <a:pt x="970340" y="347838"/>
                    <a:pt x="962171" y="347838"/>
                  </a:cubicBezTo>
                  <a:lnTo>
                    <a:pt x="30802" y="347838"/>
                  </a:lnTo>
                  <a:cubicBezTo>
                    <a:pt x="13790" y="347838"/>
                    <a:pt x="0" y="334048"/>
                    <a:pt x="0" y="317036"/>
                  </a:cubicBezTo>
                  <a:lnTo>
                    <a:pt x="0" y="30802"/>
                  </a:lnTo>
                  <a:cubicBezTo>
                    <a:pt x="0" y="22633"/>
                    <a:pt x="3245" y="14798"/>
                    <a:pt x="9022" y="9022"/>
                  </a:cubicBezTo>
                  <a:cubicBezTo>
                    <a:pt x="14798" y="3245"/>
                    <a:pt x="22633" y="0"/>
                    <a:pt x="30802" y="0"/>
                  </a:cubicBezTo>
                  <a:close/>
                </a:path>
              </a:pathLst>
            </a:custGeom>
            <a:solidFill>
              <a:srgbClr val="FFB716">
                <a:alpha val="4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92973" cy="404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912370" y="8731918"/>
            <a:ext cx="3375630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Miguel Mercado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José Cedeño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8424" y="5182249"/>
            <a:ext cx="5460345" cy="3086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0"/>
              </a:lnSpc>
              <a:spcBef>
                <a:spcPct val="0"/>
              </a:spcBef>
            </a:pPr>
            <a:r>
              <a:rPr lang="en-US" b="true" sz="18000" spc="-180">
                <a:solidFill>
                  <a:srgbClr val="2E576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MCU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78424" y="3348720"/>
            <a:ext cx="7401245" cy="1783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0"/>
              </a:lnSpc>
            </a:pPr>
            <a:r>
              <a:rPr lang="en-US" sz="10400" spc="-104">
                <a:solidFill>
                  <a:srgbClr val="2E576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Proyecto APT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24427" y="5677138"/>
            <a:ext cx="3105745" cy="232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02"/>
              </a:lnSpc>
            </a:pPr>
            <a:r>
              <a:rPr lang="en-US" sz="4430" b="true">
                <a:solidFill>
                  <a:srgbClr val="2E57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sz="4430" b="true">
                <a:solidFill>
                  <a:srgbClr val="44444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ódulo de</a:t>
            </a:r>
            <a:r>
              <a:rPr lang="en-US" sz="443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just">
              <a:lnSpc>
                <a:spcPts val="6202"/>
              </a:lnSpc>
            </a:pPr>
            <a:r>
              <a:rPr lang="en-US" sz="4430" b="true">
                <a:solidFill>
                  <a:srgbClr val="2E57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sz="4430" b="true">
                <a:solidFill>
                  <a:srgbClr val="44444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ontrol</a:t>
            </a:r>
          </a:p>
          <a:p>
            <a:pPr algn="just" marL="0" indent="0" lvl="0">
              <a:lnSpc>
                <a:spcPts val="6202"/>
              </a:lnSpc>
              <a:spcBef>
                <a:spcPct val="0"/>
              </a:spcBef>
            </a:pPr>
            <a:r>
              <a:rPr lang="en-US" b="true" sz="4430">
                <a:solidFill>
                  <a:srgbClr val="2E57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</a:t>
            </a:r>
            <a:r>
              <a:rPr lang="en-US" b="true" sz="4430">
                <a:solidFill>
                  <a:srgbClr val="44444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niversal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D58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7521" y="4144168"/>
            <a:ext cx="11700507" cy="1717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FECC8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controlar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0079" y="848016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79"/>
                </a:lnTo>
                <a:lnTo>
                  <a:pt x="0" y="134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87521" y="2956719"/>
            <a:ext cx="11700507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¿Y si pudieras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93746" y="5601493"/>
            <a:ext cx="11700507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tu auto        </a:t>
            </a:r>
            <a:r>
              <a:rPr lang="en-US" sz="8000">
                <a:solidFill>
                  <a:srgbClr val="00D8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desde tu teléfono?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150421" y="35681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80"/>
                </a:lnTo>
                <a:lnTo>
                  <a:pt x="0" y="1343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07901" y="5694277"/>
            <a:ext cx="6723559" cy="1292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>
                <a:solidFill>
                  <a:srgbClr val="00D8FF"/>
                </a:solidFill>
                <a:latin typeface="Contrail One"/>
                <a:ea typeface="Contrail One"/>
                <a:cs typeface="Contrail One"/>
                <a:sym typeface="Contrail One"/>
              </a:rPr>
              <a:t>joyita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10408" y="1580002"/>
            <a:ext cx="5717454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20"/>
              </a:lnSpc>
            </a:pP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Contexto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3402653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44C5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99817" y="3648316"/>
            <a:ext cx="5797509" cy="3704975"/>
            <a:chOff x="0" y="0"/>
            <a:chExt cx="7730012" cy="493996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04775"/>
              <a:ext cx="7730012" cy="1316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7280"/>
                </a:lnSpc>
              </a:pPr>
              <a:r>
                <a:rPr lang="en-US" b="true" sz="7000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Problema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469183"/>
              <a:ext cx="7730012" cy="3470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2"/>
                </a:lnSpc>
                <a:spcBef>
                  <a:spcPct val="0"/>
                </a:spcBef>
              </a:pPr>
              <a:r>
                <a:rPr lang="en-US" sz="33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Obsolesencia de vehículos antiguos que carecen de un sistema práctico que le permita actualizarse con elementos de confort moderna, de manera fácil, práctica y económica.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67549" y="3648316"/>
            <a:ext cx="5717454" cy="4133600"/>
            <a:chOff x="0" y="0"/>
            <a:chExt cx="7623272" cy="551146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04775"/>
              <a:ext cx="7623272" cy="1316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7280"/>
                </a:lnSpc>
              </a:pPr>
              <a:r>
                <a:rPr lang="en-US" b="true" sz="7000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Solución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469183"/>
              <a:ext cx="7623272" cy="40422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2"/>
                </a:lnSpc>
                <a:spcBef>
                  <a:spcPct val="0"/>
                </a:spcBef>
              </a:pPr>
              <a:r>
                <a:rPr lang="en-US" sz="33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Un sistema que permita integrar los diferentes sistemas del vehiculo, cuyos elementos de confort nuevos se conecten aqui facilitando la modernización y permitiendo una conexión por teléfono.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84788" y="2297429"/>
            <a:ext cx="7168125" cy="284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8D1F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MCU</a:t>
            </a:r>
            <a:r>
              <a:rPr lang="en-US" sz="2699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es un módulo que permitirá en primera instancia controlar todos los sistemas de confort del vehículo, a través de una interfaz preprogramada que permitirá al usuario conectar los elementos según sean requeridos.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3506347" y="0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4781653" y="0"/>
                </a:moveTo>
                <a:lnTo>
                  <a:pt x="0" y="0"/>
                </a:lnTo>
                <a:lnTo>
                  <a:pt x="0" y="5597722"/>
                </a:lnTo>
                <a:lnTo>
                  <a:pt x="4781653" y="5597722"/>
                </a:lnTo>
                <a:lnTo>
                  <a:pt x="47816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00226" y="-2988874"/>
            <a:ext cx="9981158" cy="9745240"/>
          </a:xfrm>
          <a:custGeom>
            <a:avLst/>
            <a:gdLst/>
            <a:ahLst/>
            <a:cxnLst/>
            <a:rect r="r" b="b" t="t" l="l"/>
            <a:pathLst>
              <a:path h="9745240" w="9981158">
                <a:moveTo>
                  <a:pt x="0" y="0"/>
                </a:moveTo>
                <a:lnTo>
                  <a:pt x="9981159" y="0"/>
                </a:lnTo>
                <a:lnTo>
                  <a:pt x="9981159" y="9745240"/>
                </a:lnTo>
                <a:lnTo>
                  <a:pt x="0" y="9745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8034" y="7035000"/>
            <a:ext cx="6562898" cy="3262184"/>
          </a:xfrm>
          <a:custGeom>
            <a:avLst/>
            <a:gdLst/>
            <a:ahLst/>
            <a:cxnLst/>
            <a:rect r="r" b="b" t="t" l="l"/>
            <a:pathLst>
              <a:path h="3262184" w="6562898">
                <a:moveTo>
                  <a:pt x="0" y="0"/>
                </a:moveTo>
                <a:lnTo>
                  <a:pt x="6562899" y="0"/>
                </a:lnTo>
                <a:lnTo>
                  <a:pt x="6562899" y="3262185"/>
                </a:lnTo>
                <a:lnTo>
                  <a:pt x="0" y="32621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63478" y="3149424"/>
            <a:ext cx="5717454" cy="215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320"/>
              </a:lnSpc>
            </a:pP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¿Qué es </a:t>
            </a:r>
            <a:r>
              <a:rPr lang="en-US" b="true" sz="8000">
                <a:solidFill>
                  <a:srgbClr val="8D1F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MCU</a:t>
            </a: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402653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44C5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68969" y="454310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076825"/>
            <a:ext cx="9279775" cy="298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Este sistema propone extrapolar sistemas que dependen exclusivamente de la </a:t>
            </a:r>
            <a:r>
              <a:rPr lang="en-US" sz="3399">
                <a:solidFill>
                  <a:srgbClr val="007AC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ECU</a:t>
            </a: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para ser reutilizados por un taller especializado, que consideran también sistemas de seguridad pasivos y activos.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57250"/>
            <a:ext cx="9279775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General: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30305" y="202548"/>
            <a:ext cx="4894345" cy="9881905"/>
            <a:chOff x="0" y="0"/>
            <a:chExt cx="6525794" cy="13175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99847" y="286769"/>
              <a:ext cx="2004688" cy="1366833"/>
            </a:xfrm>
            <a:custGeom>
              <a:avLst/>
              <a:gdLst/>
              <a:ahLst/>
              <a:cxnLst/>
              <a:rect r="r" b="b" t="t" l="l"/>
              <a:pathLst>
                <a:path h="1366833" w="2004688">
                  <a:moveTo>
                    <a:pt x="0" y="0"/>
                  </a:moveTo>
                  <a:lnTo>
                    <a:pt x="2004688" y="0"/>
                  </a:lnTo>
                  <a:lnTo>
                    <a:pt x="2004688" y="1366833"/>
                  </a:lnTo>
                  <a:lnTo>
                    <a:pt x="0" y="1366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776973" y="2199272"/>
              <a:ext cx="1827322" cy="1749661"/>
            </a:xfrm>
            <a:custGeom>
              <a:avLst/>
              <a:gdLst/>
              <a:ahLst/>
              <a:cxnLst/>
              <a:rect r="r" b="b" t="t" l="l"/>
              <a:pathLst>
                <a:path h="1749661" w="1827322">
                  <a:moveTo>
                    <a:pt x="0" y="0"/>
                  </a:moveTo>
                  <a:lnTo>
                    <a:pt x="1827321" y="0"/>
                  </a:lnTo>
                  <a:lnTo>
                    <a:pt x="1827321" y="1749661"/>
                  </a:lnTo>
                  <a:lnTo>
                    <a:pt x="0" y="174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0" y="4761733"/>
              <a:ext cx="6525794" cy="3549179"/>
              <a:chOff x="0" y="0"/>
              <a:chExt cx="1289046" cy="70107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89046" cy="701072"/>
              </a:xfrm>
              <a:custGeom>
                <a:avLst/>
                <a:gdLst/>
                <a:ahLst/>
                <a:cxnLst/>
                <a:rect r="r" b="b" t="t" l="l"/>
                <a:pathLst>
                  <a:path h="701072" w="1289046">
                    <a:moveTo>
                      <a:pt x="644523" y="0"/>
                    </a:moveTo>
                    <a:cubicBezTo>
                      <a:pt x="288563" y="0"/>
                      <a:pt x="0" y="156940"/>
                      <a:pt x="0" y="350536"/>
                    </a:cubicBezTo>
                    <a:cubicBezTo>
                      <a:pt x="0" y="544132"/>
                      <a:pt x="288563" y="701072"/>
                      <a:pt x="644523" y="701072"/>
                    </a:cubicBezTo>
                    <a:cubicBezTo>
                      <a:pt x="1000483" y="701072"/>
                      <a:pt x="1289046" y="544132"/>
                      <a:pt x="1289046" y="350536"/>
                    </a:cubicBezTo>
                    <a:cubicBezTo>
                      <a:pt x="1289046" y="156940"/>
                      <a:pt x="1000483" y="0"/>
                      <a:pt x="644523" y="0"/>
                    </a:cubicBezTo>
                    <a:close/>
                  </a:path>
                </a:pathLst>
              </a:custGeom>
              <a:solidFill>
                <a:srgbClr val="FFCC4D"/>
              </a:solidFill>
              <a:ln w="104775" cap="sq">
                <a:solidFill>
                  <a:srgbClr val="FBCA48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120848" y="8576"/>
                <a:ext cx="1047350" cy="6267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5008313"/>
              <a:ext cx="6525794" cy="3028285"/>
              <a:chOff x="0" y="0"/>
              <a:chExt cx="1752166" cy="81309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52166" cy="813090"/>
              </a:xfrm>
              <a:custGeom>
                <a:avLst/>
                <a:gdLst/>
                <a:ahLst/>
                <a:cxnLst/>
                <a:rect r="r" b="b" t="t" l="l"/>
                <a:pathLst>
                  <a:path h="813090" w="1752166">
                    <a:moveTo>
                      <a:pt x="876083" y="0"/>
                    </a:moveTo>
                    <a:cubicBezTo>
                      <a:pt x="392236" y="0"/>
                      <a:pt x="0" y="182016"/>
                      <a:pt x="0" y="406545"/>
                    </a:cubicBezTo>
                    <a:cubicBezTo>
                      <a:pt x="0" y="631074"/>
                      <a:pt x="392236" y="813090"/>
                      <a:pt x="876083" y="813090"/>
                    </a:cubicBezTo>
                    <a:cubicBezTo>
                      <a:pt x="1359931" y="813090"/>
                      <a:pt x="1752166" y="631074"/>
                      <a:pt x="1752166" y="406545"/>
                    </a:cubicBezTo>
                    <a:cubicBezTo>
                      <a:pt x="1752166" y="182016"/>
                      <a:pt x="1359931" y="0"/>
                      <a:pt x="876083" y="0"/>
                    </a:cubicBezTo>
                    <a:close/>
                  </a:path>
                </a:pathLst>
              </a:custGeom>
              <a:solidFill>
                <a:srgbClr val="FFDC85"/>
              </a:solidFill>
              <a:ln w="104775" cap="sq">
                <a:solidFill>
                  <a:srgbClr val="FFDC85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64266" y="19077"/>
                <a:ext cx="1423635" cy="7177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015476" y="5658945"/>
              <a:ext cx="2017447" cy="1606621"/>
            </a:xfrm>
            <a:custGeom>
              <a:avLst/>
              <a:gdLst/>
              <a:ahLst/>
              <a:cxnLst/>
              <a:rect r="r" b="b" t="t" l="l"/>
              <a:pathLst>
                <a:path h="1606621" w="2017447">
                  <a:moveTo>
                    <a:pt x="0" y="0"/>
                  </a:moveTo>
                  <a:lnTo>
                    <a:pt x="2017447" y="0"/>
                  </a:lnTo>
                  <a:lnTo>
                    <a:pt x="2017447" y="1606622"/>
                  </a:lnTo>
                  <a:lnTo>
                    <a:pt x="0" y="1606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860245" y="6075474"/>
              <a:ext cx="1102009" cy="1221986"/>
            </a:xfrm>
            <a:custGeom>
              <a:avLst/>
              <a:gdLst/>
              <a:ahLst/>
              <a:cxnLst/>
              <a:rect r="r" b="b" t="t" l="l"/>
              <a:pathLst>
                <a:path h="1221986" w="1102009">
                  <a:moveTo>
                    <a:pt x="0" y="0"/>
                  </a:moveTo>
                  <a:lnTo>
                    <a:pt x="1102009" y="0"/>
                  </a:lnTo>
                  <a:lnTo>
                    <a:pt x="1102009" y="1221986"/>
                  </a:lnTo>
                  <a:lnTo>
                    <a:pt x="0" y="1221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5663092">
              <a:off x="2672337" y="5991955"/>
              <a:ext cx="1181120" cy="940601"/>
            </a:xfrm>
            <a:custGeom>
              <a:avLst/>
              <a:gdLst/>
              <a:ahLst/>
              <a:cxnLst/>
              <a:rect r="r" b="b" t="t" l="l"/>
              <a:pathLst>
                <a:path h="940601" w="1181120">
                  <a:moveTo>
                    <a:pt x="0" y="0"/>
                  </a:moveTo>
                  <a:lnTo>
                    <a:pt x="1181120" y="0"/>
                  </a:lnTo>
                  <a:lnTo>
                    <a:pt x="1181120" y="940602"/>
                  </a:lnTo>
                  <a:lnTo>
                    <a:pt x="0" y="940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015476" y="5272231"/>
              <a:ext cx="773429" cy="773429"/>
            </a:xfrm>
            <a:custGeom>
              <a:avLst/>
              <a:gdLst/>
              <a:ahLst/>
              <a:cxnLst/>
              <a:rect r="r" b="b" t="t" l="l"/>
              <a:pathLst>
                <a:path h="773429" w="773429">
                  <a:moveTo>
                    <a:pt x="0" y="0"/>
                  </a:moveTo>
                  <a:lnTo>
                    <a:pt x="773429" y="0"/>
                  </a:lnTo>
                  <a:lnTo>
                    <a:pt x="773429" y="773429"/>
                  </a:lnTo>
                  <a:lnTo>
                    <a:pt x="0" y="77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true" rot="2774368">
              <a:off x="3198600" y="741325"/>
              <a:ext cx="2334415" cy="659472"/>
            </a:xfrm>
            <a:custGeom>
              <a:avLst/>
              <a:gdLst/>
              <a:ahLst/>
              <a:cxnLst/>
              <a:rect r="r" b="b" t="t" l="l"/>
              <a:pathLst>
                <a:path h="659472" w="2334415">
                  <a:moveTo>
                    <a:pt x="0" y="659472"/>
                  </a:moveTo>
                  <a:lnTo>
                    <a:pt x="2334415" y="659472"/>
                  </a:lnTo>
                  <a:lnTo>
                    <a:pt x="2334415" y="0"/>
                  </a:lnTo>
                  <a:lnTo>
                    <a:pt x="0" y="0"/>
                  </a:lnTo>
                  <a:lnTo>
                    <a:pt x="0" y="659472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7265476">
              <a:off x="1279748" y="3181243"/>
              <a:ext cx="1994146" cy="563346"/>
            </a:xfrm>
            <a:custGeom>
              <a:avLst/>
              <a:gdLst/>
              <a:ahLst/>
              <a:cxnLst/>
              <a:rect r="r" b="b" t="t" l="l"/>
              <a:pathLst>
                <a:path h="563346" w="1994146">
                  <a:moveTo>
                    <a:pt x="0" y="0"/>
                  </a:moveTo>
                  <a:lnTo>
                    <a:pt x="1994147" y="0"/>
                  </a:lnTo>
                  <a:lnTo>
                    <a:pt x="1994147" y="563346"/>
                  </a:lnTo>
                  <a:lnTo>
                    <a:pt x="0" y="563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34655" y="11551667"/>
              <a:ext cx="1246008" cy="1579140"/>
            </a:xfrm>
            <a:custGeom>
              <a:avLst/>
              <a:gdLst/>
              <a:ahLst/>
              <a:cxnLst/>
              <a:rect r="r" b="b" t="t" l="l"/>
              <a:pathLst>
                <a:path h="1579140" w="1246008">
                  <a:moveTo>
                    <a:pt x="0" y="0"/>
                  </a:moveTo>
                  <a:lnTo>
                    <a:pt x="1246008" y="0"/>
                  </a:lnTo>
                  <a:lnTo>
                    <a:pt x="1246008" y="1579141"/>
                  </a:lnTo>
                  <a:lnTo>
                    <a:pt x="0" y="1579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822415" y="11785296"/>
              <a:ext cx="1703379" cy="1390576"/>
            </a:xfrm>
            <a:custGeom>
              <a:avLst/>
              <a:gdLst/>
              <a:ahLst/>
              <a:cxnLst/>
              <a:rect r="r" b="b" t="t" l="l"/>
              <a:pathLst>
                <a:path h="1390576" w="1703379">
                  <a:moveTo>
                    <a:pt x="0" y="0"/>
                  </a:moveTo>
                  <a:lnTo>
                    <a:pt x="1703379" y="0"/>
                  </a:lnTo>
                  <a:lnTo>
                    <a:pt x="1703379" y="1390577"/>
                  </a:lnTo>
                  <a:lnTo>
                    <a:pt x="0" y="1390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-3193812">
              <a:off x="4247772" y="8861515"/>
              <a:ext cx="1512737" cy="427348"/>
            </a:xfrm>
            <a:custGeom>
              <a:avLst/>
              <a:gdLst/>
              <a:ahLst/>
              <a:cxnLst/>
              <a:rect r="r" b="b" t="t" l="l"/>
              <a:pathLst>
                <a:path h="427348" w="1512737">
                  <a:moveTo>
                    <a:pt x="0" y="0"/>
                  </a:moveTo>
                  <a:lnTo>
                    <a:pt x="1512737" y="0"/>
                  </a:lnTo>
                  <a:lnTo>
                    <a:pt x="1512737" y="427349"/>
                  </a:lnTo>
                  <a:lnTo>
                    <a:pt x="0" y="427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370959" y="9123712"/>
              <a:ext cx="1994849" cy="1846142"/>
            </a:xfrm>
            <a:custGeom>
              <a:avLst/>
              <a:gdLst/>
              <a:ahLst/>
              <a:cxnLst/>
              <a:rect r="r" b="b" t="t" l="l"/>
              <a:pathLst>
                <a:path h="1846142" w="1994849">
                  <a:moveTo>
                    <a:pt x="0" y="0"/>
                  </a:moveTo>
                  <a:lnTo>
                    <a:pt x="1994849" y="0"/>
                  </a:lnTo>
                  <a:lnTo>
                    <a:pt x="1994849" y="1846142"/>
                  </a:lnTo>
                  <a:lnTo>
                    <a:pt x="0" y="1846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true" rot="-7505868">
              <a:off x="3400765" y="11807426"/>
              <a:ext cx="1512737" cy="427348"/>
            </a:xfrm>
            <a:custGeom>
              <a:avLst/>
              <a:gdLst/>
              <a:ahLst/>
              <a:cxnLst/>
              <a:rect r="r" b="b" t="t" l="l"/>
              <a:pathLst>
                <a:path h="427348" w="1512737">
                  <a:moveTo>
                    <a:pt x="0" y="427348"/>
                  </a:moveTo>
                  <a:lnTo>
                    <a:pt x="1512737" y="427348"/>
                  </a:lnTo>
                  <a:lnTo>
                    <a:pt x="1512737" y="0"/>
                  </a:lnTo>
                  <a:lnTo>
                    <a:pt x="0" y="0"/>
                  </a:lnTo>
                  <a:lnTo>
                    <a:pt x="0" y="427348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-3384798">
              <a:off x="1680132" y="11814026"/>
              <a:ext cx="1512737" cy="427348"/>
            </a:xfrm>
            <a:custGeom>
              <a:avLst/>
              <a:gdLst/>
              <a:ahLst/>
              <a:cxnLst/>
              <a:rect r="r" b="b" t="t" l="l"/>
              <a:pathLst>
                <a:path h="427348" w="1512737">
                  <a:moveTo>
                    <a:pt x="0" y="0"/>
                  </a:moveTo>
                  <a:lnTo>
                    <a:pt x="1512737" y="0"/>
                  </a:lnTo>
                  <a:lnTo>
                    <a:pt x="1512737" y="427348"/>
                  </a:lnTo>
                  <a:lnTo>
                    <a:pt x="0" y="427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98435" y="307323"/>
            <a:ext cx="10287044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20"/>
              </a:lnSpc>
            </a:pP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Objetivos Específicos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8435" y="3240404"/>
            <a:ext cx="8545565" cy="9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Instalación de un sistema arduino que controle todos los elementos electricos del vehículo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8435" y="4830053"/>
            <a:ext cx="8545565" cy="148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Desarrollo de aplicación móvil que entregue información del vehículo y recordatorio de las mantenciones.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8435" y="6911584"/>
            <a:ext cx="8545565" cy="9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Permitir la conexión de elementos de confort entre el vehículo y el teléfono.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397237" cy="10287000"/>
            <a:chOff x="0" y="0"/>
            <a:chExt cx="24749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49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74993">
                  <a:moveTo>
                    <a:pt x="0" y="0"/>
                  </a:moveTo>
                  <a:lnTo>
                    <a:pt x="2474993" y="0"/>
                  </a:lnTo>
                  <a:lnTo>
                    <a:pt x="24749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44C5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4749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52630" y="2735705"/>
            <a:ext cx="5717454" cy="215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320"/>
              </a:lnSpc>
            </a:pP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Alcance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80502" y="1969938"/>
            <a:ext cx="8545565" cy="148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Gestión del cierre centralizado: Funcionamiento de cierre centralizado a través de los botones de la App.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80502" y="5618650"/>
            <a:ext cx="8545565" cy="148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Integración eléctricalizado: Módulo de Arduino conectado a través de los cables de control de los componentes.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80502" y="3794294"/>
            <a:ext cx="8545565" cy="148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Interfaz de usuario: Interfaz simple, pero completa para el uso de las funciones de control de componentes.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80502" y="7439442"/>
            <a:ext cx="8545565" cy="9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Gestión de mantenimientos: Actualización en tiempo real de detalles de los componentes.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852630" y="5143500"/>
            <a:ext cx="7291370" cy="0"/>
          </a:xfrm>
          <a:prstGeom prst="line">
            <a:avLst/>
          </a:prstGeom>
          <a:ln cap="flat" w="38100">
            <a:solidFill>
              <a:srgbClr val="444C5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09340" y="799867"/>
            <a:ext cx="10269320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Requerimientos clave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20040"/>
            <a:ext cx="7569439" cy="90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64"/>
              </a:lnSpc>
            </a:pPr>
            <a:r>
              <a:rPr lang="en-US" b="true" sz="66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Funcionales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89861" y="3820040"/>
            <a:ext cx="7569439" cy="90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64"/>
              </a:lnSpc>
            </a:pPr>
            <a:r>
              <a:rPr lang="en-US" b="true" sz="66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No Funcionales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003193"/>
            <a:ext cx="7569439" cy="316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2496"/>
              </a:lnSpc>
              <a:buFont typeface="Arial"/>
              <a:buChar char="•"/>
            </a:pPr>
            <a:r>
              <a:rPr lang="en-US" b="true" sz="24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Formulario de Inicio de sesión</a:t>
            </a:r>
          </a:p>
          <a:p>
            <a:pPr algn="just" marL="518160" indent="-259080" lvl="1">
              <a:lnSpc>
                <a:spcPts val="2496"/>
              </a:lnSpc>
              <a:buFont typeface="Arial"/>
              <a:buChar char="•"/>
            </a:pPr>
            <a:r>
              <a:rPr lang="en-US" b="true" sz="24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Formulario de Registro</a:t>
            </a:r>
          </a:p>
          <a:p>
            <a:pPr algn="just" marL="518160" indent="-259080" lvl="1">
              <a:lnSpc>
                <a:spcPts val="2496"/>
              </a:lnSpc>
              <a:buFont typeface="Arial"/>
              <a:buChar char="•"/>
            </a:pPr>
            <a:r>
              <a:rPr lang="en-US" b="true" sz="24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Botones de función de componentes del vehículo</a:t>
            </a:r>
          </a:p>
          <a:p>
            <a:pPr algn="just" marL="518160" indent="-259080" lvl="1">
              <a:lnSpc>
                <a:spcPts val="2496"/>
              </a:lnSpc>
              <a:buFont typeface="Arial"/>
              <a:buChar char="•"/>
            </a:pPr>
            <a:r>
              <a:rPr lang="en-US" b="true" sz="24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Interfaz de método de conexión a escoger (Bluetooth o Wi-Fi)</a:t>
            </a:r>
          </a:p>
          <a:p>
            <a:pPr algn="just" marL="518160" indent="-259080" lvl="1">
              <a:lnSpc>
                <a:spcPts val="2496"/>
              </a:lnSpc>
              <a:buFont typeface="Arial"/>
              <a:buChar char="•"/>
            </a:pPr>
            <a:r>
              <a:rPr lang="en-US" b="true" sz="24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Interfaz de estado de los componentes del vehículo</a:t>
            </a:r>
          </a:p>
          <a:p>
            <a:pPr algn="just" marL="518160" indent="-259080" lvl="1">
              <a:lnSpc>
                <a:spcPts val="2496"/>
              </a:lnSpc>
              <a:buFont typeface="Arial"/>
              <a:buChar char="•"/>
            </a:pPr>
            <a:r>
              <a:rPr lang="en-US" b="true" sz="24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Botón de notificaciones de estado del vehículo</a:t>
            </a:r>
          </a:p>
          <a:p>
            <a:pPr algn="just" marL="518160" indent="-259080" lvl="1">
              <a:lnSpc>
                <a:spcPts val="2496"/>
              </a:lnSpc>
              <a:buFont typeface="Arial"/>
              <a:buChar char="•"/>
            </a:pPr>
            <a:r>
              <a:rPr lang="en-US" b="true" sz="24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Registro y gestión de datos de un vehículo</a:t>
            </a:r>
          </a:p>
          <a:p>
            <a:pPr algn="just">
              <a:lnSpc>
                <a:spcPts val="249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689861" y="6135972"/>
            <a:ext cx="7569439" cy="1277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2496"/>
              </a:lnSpc>
              <a:buFont typeface="Arial"/>
              <a:buChar char="•"/>
            </a:pPr>
            <a:r>
              <a:rPr lang="en-US" b="true" sz="24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Interfaz de usuario simple y responsiva</a:t>
            </a:r>
          </a:p>
          <a:p>
            <a:pPr algn="just" marL="518160" indent="-259080" lvl="1">
              <a:lnSpc>
                <a:spcPts val="2496"/>
              </a:lnSpc>
              <a:buFont typeface="Arial"/>
              <a:buChar char="•"/>
            </a:pPr>
            <a:r>
              <a:rPr lang="en-US" b="true" sz="24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Comunicación de la App móvil con el módulo MCU en tiempo real</a:t>
            </a:r>
          </a:p>
          <a:p>
            <a:pPr algn="just">
              <a:lnSpc>
                <a:spcPts val="2496"/>
              </a:lnSpc>
            </a:pPr>
          </a:p>
        </p:txBody>
      </p:sp>
      <p:sp>
        <p:nvSpPr>
          <p:cNvPr name="AutoShape 7" id="7"/>
          <p:cNvSpPr/>
          <p:nvPr/>
        </p:nvSpPr>
        <p:spPr>
          <a:xfrm flipH="true">
            <a:off x="9124950" y="2900732"/>
            <a:ext cx="0" cy="7133822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AE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20610" y="4126115"/>
            <a:ext cx="10454363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2E576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Estándares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0079" y="848016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79"/>
                </a:lnTo>
                <a:lnTo>
                  <a:pt x="0" y="134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07023" y="2938732"/>
            <a:ext cx="11700507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¿Bajo qué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43231" y="5672407"/>
            <a:ext cx="11700507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trabajamos?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150421" y="35681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80"/>
                </a:lnTo>
                <a:lnTo>
                  <a:pt x="0" y="1343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75053" y="3319458"/>
            <a:ext cx="565444" cy="529123"/>
          </a:xfrm>
          <a:custGeom>
            <a:avLst/>
            <a:gdLst/>
            <a:ahLst/>
            <a:cxnLst/>
            <a:rect r="r" b="b" t="t" l="l"/>
            <a:pathLst>
              <a:path h="529123" w="565444">
                <a:moveTo>
                  <a:pt x="0" y="0"/>
                </a:moveTo>
                <a:lnTo>
                  <a:pt x="565444" y="0"/>
                </a:lnTo>
                <a:lnTo>
                  <a:pt x="565444" y="529123"/>
                </a:lnTo>
                <a:lnTo>
                  <a:pt x="0" y="529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4140" y="4197026"/>
            <a:ext cx="565444" cy="529123"/>
          </a:xfrm>
          <a:custGeom>
            <a:avLst/>
            <a:gdLst/>
            <a:ahLst/>
            <a:cxnLst/>
            <a:rect r="r" b="b" t="t" l="l"/>
            <a:pathLst>
              <a:path h="529123" w="565444">
                <a:moveTo>
                  <a:pt x="0" y="0"/>
                </a:moveTo>
                <a:lnTo>
                  <a:pt x="565443" y="0"/>
                </a:lnTo>
                <a:lnTo>
                  <a:pt x="565443" y="529123"/>
                </a:lnTo>
                <a:lnTo>
                  <a:pt x="0" y="529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85864" y="5070151"/>
            <a:ext cx="565444" cy="529123"/>
          </a:xfrm>
          <a:custGeom>
            <a:avLst/>
            <a:gdLst/>
            <a:ahLst/>
            <a:cxnLst/>
            <a:rect r="r" b="b" t="t" l="l"/>
            <a:pathLst>
              <a:path h="529123" w="565444">
                <a:moveTo>
                  <a:pt x="0" y="0"/>
                </a:moveTo>
                <a:lnTo>
                  <a:pt x="565444" y="0"/>
                </a:lnTo>
                <a:lnTo>
                  <a:pt x="565444" y="529123"/>
                </a:lnTo>
                <a:lnTo>
                  <a:pt x="0" y="529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69688" y="5943276"/>
            <a:ext cx="565444" cy="529123"/>
          </a:xfrm>
          <a:custGeom>
            <a:avLst/>
            <a:gdLst/>
            <a:ahLst/>
            <a:cxnLst/>
            <a:rect r="r" b="b" t="t" l="l"/>
            <a:pathLst>
              <a:path h="529123" w="565444">
                <a:moveTo>
                  <a:pt x="0" y="0"/>
                </a:moveTo>
                <a:lnTo>
                  <a:pt x="565444" y="0"/>
                </a:lnTo>
                <a:lnTo>
                  <a:pt x="565444" y="529123"/>
                </a:lnTo>
                <a:lnTo>
                  <a:pt x="0" y="5291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6816401"/>
            <a:ext cx="565444" cy="529123"/>
          </a:xfrm>
          <a:custGeom>
            <a:avLst/>
            <a:gdLst/>
            <a:ahLst/>
            <a:cxnLst/>
            <a:rect r="r" b="b" t="t" l="l"/>
            <a:pathLst>
              <a:path h="529123" w="565444">
                <a:moveTo>
                  <a:pt x="0" y="0"/>
                </a:moveTo>
                <a:lnTo>
                  <a:pt x="565444" y="0"/>
                </a:lnTo>
                <a:lnTo>
                  <a:pt x="565444" y="529123"/>
                </a:lnTo>
                <a:lnTo>
                  <a:pt x="0" y="5291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45805" y="-305610"/>
            <a:ext cx="2549009" cy="4766647"/>
          </a:xfrm>
          <a:custGeom>
            <a:avLst/>
            <a:gdLst/>
            <a:ahLst/>
            <a:cxnLst/>
            <a:rect r="r" b="b" t="t" l="l"/>
            <a:pathLst>
              <a:path h="4766647" w="2549009">
                <a:moveTo>
                  <a:pt x="0" y="0"/>
                </a:moveTo>
                <a:lnTo>
                  <a:pt x="2549010" y="0"/>
                </a:lnTo>
                <a:lnTo>
                  <a:pt x="2549010" y="4766647"/>
                </a:lnTo>
                <a:lnTo>
                  <a:pt x="0" y="47666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82669" y="3749961"/>
            <a:ext cx="1897261" cy="2192213"/>
          </a:xfrm>
          <a:custGeom>
            <a:avLst/>
            <a:gdLst/>
            <a:ahLst/>
            <a:cxnLst/>
            <a:rect r="r" b="b" t="t" l="l"/>
            <a:pathLst>
              <a:path h="2192213" w="1897261">
                <a:moveTo>
                  <a:pt x="0" y="0"/>
                </a:moveTo>
                <a:lnTo>
                  <a:pt x="1897260" y="0"/>
                </a:lnTo>
                <a:lnTo>
                  <a:pt x="1897260" y="2192213"/>
                </a:lnTo>
                <a:lnTo>
                  <a:pt x="0" y="219221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5400000">
            <a:off x="11605483" y="4153139"/>
            <a:ext cx="1177655" cy="2402619"/>
            <a:chOff x="0" y="0"/>
            <a:chExt cx="612269" cy="12491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2269" cy="1249135"/>
            </a:xfrm>
            <a:custGeom>
              <a:avLst/>
              <a:gdLst/>
              <a:ahLst/>
              <a:cxnLst/>
              <a:rect r="r" b="b" t="t" l="l"/>
              <a:pathLst>
                <a:path h="1249135" w="612269">
                  <a:moveTo>
                    <a:pt x="306135" y="1249135"/>
                  </a:moveTo>
                  <a:lnTo>
                    <a:pt x="0" y="842735"/>
                  </a:lnTo>
                  <a:lnTo>
                    <a:pt x="203200" y="842735"/>
                  </a:lnTo>
                  <a:lnTo>
                    <a:pt x="203200" y="0"/>
                  </a:lnTo>
                  <a:lnTo>
                    <a:pt x="409069" y="0"/>
                  </a:lnTo>
                  <a:lnTo>
                    <a:pt x="409069" y="842735"/>
                  </a:lnTo>
                  <a:lnTo>
                    <a:pt x="612269" y="842735"/>
                  </a:lnTo>
                  <a:lnTo>
                    <a:pt x="306135" y="1249135"/>
                  </a:lnTo>
                  <a:close/>
                </a:path>
              </a:pathLst>
            </a:custGeom>
            <a:solidFill>
              <a:srgbClr val="8D1F7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03200" y="-57150"/>
              <a:ext cx="205869" cy="1204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616861" y="3243258"/>
            <a:ext cx="971880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Requerimientos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18014" y="688735"/>
            <a:ext cx="11471656" cy="138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Metodología Cascada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40986" y="5865974"/>
            <a:ext cx="7504889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Verificación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90812" y="6739099"/>
            <a:ext cx="615506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Despliegue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98312" y="4119725"/>
            <a:ext cx="984756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Diseño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76505" y="4992849"/>
            <a:ext cx="317662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Implementación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99727"/>
            <a:ext cx="13095257" cy="9821443"/>
          </a:xfrm>
          <a:custGeom>
            <a:avLst/>
            <a:gdLst/>
            <a:ahLst/>
            <a:cxnLst/>
            <a:rect r="r" b="b" t="t" l="l"/>
            <a:pathLst>
              <a:path h="9821443" w="13095257">
                <a:moveTo>
                  <a:pt x="0" y="0"/>
                </a:moveTo>
                <a:lnTo>
                  <a:pt x="13095257" y="0"/>
                </a:lnTo>
                <a:lnTo>
                  <a:pt x="13095257" y="9821443"/>
                </a:lnTo>
                <a:lnTo>
                  <a:pt x="0" y="9821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371" y="826396"/>
            <a:ext cx="14314368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20"/>
              </a:lnSpc>
              <a:spcBef>
                <a:spcPct val="0"/>
              </a:spcBef>
            </a:pP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Cronograma del proyecto: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32919" y="3056800"/>
            <a:ext cx="6255081" cy="545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025" indent="-302512" lvl="1">
              <a:lnSpc>
                <a:spcPts val="3923"/>
              </a:lnSpc>
              <a:buFont typeface="Arial"/>
              <a:buChar char="•"/>
            </a:pPr>
            <a:r>
              <a:rPr lang="en-US" b="true" sz="2802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Duración total Estimada:</a:t>
            </a:r>
            <a:r>
              <a:rPr lang="en-US" sz="28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4 meses.</a:t>
            </a:r>
          </a:p>
          <a:p>
            <a:pPr algn="l" marL="605025" indent="-302512" lvl="1">
              <a:lnSpc>
                <a:spcPts val="3923"/>
              </a:lnSpc>
              <a:buFont typeface="Arial"/>
              <a:buChar char="•"/>
            </a:pPr>
            <a:r>
              <a:rPr lang="en-US" b="true" sz="2802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Hitos relevantes:</a:t>
            </a:r>
          </a:p>
          <a:p>
            <a:pPr algn="l">
              <a:lnSpc>
                <a:spcPts val="3363"/>
              </a:lnSpc>
            </a:pP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- </a:t>
            </a:r>
            <a:r>
              <a:rPr lang="en-US" sz="2402" b="true">
                <a:solidFill>
                  <a:srgbClr val="45A8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Entrega Fase 1:</a:t>
            </a: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Semana 4</a:t>
            </a:r>
          </a:p>
          <a:p>
            <a:pPr algn="l">
              <a:lnSpc>
                <a:spcPts val="3223"/>
              </a:lnSpc>
            </a:pPr>
            <a:r>
              <a:rPr lang="en-US" sz="23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 Bases del Proyecto</a:t>
            </a:r>
          </a:p>
          <a:p>
            <a:pPr algn="l">
              <a:lnSpc>
                <a:spcPts val="2803"/>
              </a:lnSpc>
            </a:pPr>
          </a:p>
          <a:p>
            <a:pPr algn="l">
              <a:lnSpc>
                <a:spcPts val="3363"/>
              </a:lnSpc>
            </a:pP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-</a:t>
            </a:r>
            <a:r>
              <a:rPr lang="en-US" sz="2402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2402" b="true">
                <a:solidFill>
                  <a:srgbClr val="45A8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Entrega Fase 2:</a:t>
            </a:r>
            <a:r>
              <a:rPr lang="en-US" sz="2402" b="true">
                <a:solidFill>
                  <a:srgbClr val="FFB71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Semana 10</a:t>
            </a:r>
          </a:p>
          <a:p>
            <a:pPr algn="l">
              <a:lnSpc>
                <a:spcPts val="3223"/>
              </a:lnSpc>
            </a:pPr>
            <a:r>
              <a:rPr lang="en-US" sz="23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 Entrega de avance</a:t>
            </a:r>
          </a:p>
          <a:p>
            <a:pPr algn="l">
              <a:lnSpc>
                <a:spcPts val="3363"/>
              </a:lnSpc>
            </a:pPr>
          </a:p>
          <a:p>
            <a:pPr algn="l">
              <a:lnSpc>
                <a:spcPts val="3363"/>
              </a:lnSpc>
            </a:pP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- </a:t>
            </a:r>
            <a:r>
              <a:rPr lang="en-US" sz="2402" b="true">
                <a:solidFill>
                  <a:srgbClr val="FFB71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Entrega Fase 3: </a:t>
            </a: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Semana 15</a:t>
            </a:r>
          </a:p>
          <a:p>
            <a:pPr algn="l">
              <a:lnSpc>
                <a:spcPts val="3223"/>
              </a:lnSpc>
            </a:pPr>
            <a:r>
              <a:rPr lang="en-US" sz="23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 Entrega Final</a:t>
            </a:r>
          </a:p>
          <a:p>
            <a:pPr algn="l">
              <a:lnSpc>
                <a:spcPts val="3363"/>
              </a:lnSpc>
            </a:pPr>
          </a:p>
          <a:p>
            <a:pPr algn="l">
              <a:lnSpc>
                <a:spcPts val="3363"/>
              </a:lnSpc>
            </a:pP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- </a:t>
            </a:r>
            <a:r>
              <a:rPr lang="en-US" sz="2402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Entrega Fase 4:</a:t>
            </a: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Semana 17</a:t>
            </a:r>
          </a:p>
          <a:p>
            <a:pPr algn="l">
              <a:lnSpc>
                <a:spcPts val="3223"/>
              </a:lnSpc>
            </a:pPr>
            <a:r>
              <a:rPr lang="en-US" sz="23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 Presentación del proyecto funcional</a:t>
            </a:r>
          </a:p>
        </p:txBody>
      </p:sp>
      <p:sp>
        <p:nvSpPr>
          <p:cNvPr name="AutoShape 5" id="5"/>
          <p:cNvSpPr/>
          <p:nvPr/>
        </p:nvSpPr>
        <p:spPr>
          <a:xfrm>
            <a:off x="70052" y="1892233"/>
            <a:ext cx="14292577" cy="0"/>
          </a:xfrm>
          <a:prstGeom prst="line">
            <a:avLst/>
          </a:prstGeom>
          <a:ln cap="flat" w="76200">
            <a:solidFill>
              <a:srgbClr val="44444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272385"/>
            <a:ext cx="7890115" cy="8014615"/>
            <a:chOff x="0" y="0"/>
            <a:chExt cx="2078055" cy="21108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8055" cy="2110845"/>
            </a:xfrm>
            <a:custGeom>
              <a:avLst/>
              <a:gdLst/>
              <a:ahLst/>
              <a:cxnLst/>
              <a:rect r="r" b="b" t="t" l="l"/>
              <a:pathLst>
                <a:path h="2110845" w="2078055">
                  <a:moveTo>
                    <a:pt x="50042" y="0"/>
                  </a:moveTo>
                  <a:lnTo>
                    <a:pt x="2028013" y="0"/>
                  </a:lnTo>
                  <a:cubicBezTo>
                    <a:pt x="2041285" y="0"/>
                    <a:pt x="2054013" y="5272"/>
                    <a:pt x="2063398" y="14657"/>
                  </a:cubicBezTo>
                  <a:cubicBezTo>
                    <a:pt x="2072783" y="24042"/>
                    <a:pt x="2078055" y="36770"/>
                    <a:pt x="2078055" y="50042"/>
                  </a:cubicBezTo>
                  <a:lnTo>
                    <a:pt x="2078055" y="2060803"/>
                  </a:lnTo>
                  <a:cubicBezTo>
                    <a:pt x="2078055" y="2074075"/>
                    <a:pt x="2072783" y="2086803"/>
                    <a:pt x="2063398" y="2096188"/>
                  </a:cubicBezTo>
                  <a:cubicBezTo>
                    <a:pt x="2054013" y="2105573"/>
                    <a:pt x="2041285" y="2110845"/>
                    <a:pt x="2028013" y="2110845"/>
                  </a:cubicBezTo>
                  <a:lnTo>
                    <a:pt x="50042" y="2110845"/>
                  </a:lnTo>
                  <a:cubicBezTo>
                    <a:pt x="36770" y="2110845"/>
                    <a:pt x="24042" y="2105573"/>
                    <a:pt x="14657" y="2096188"/>
                  </a:cubicBezTo>
                  <a:cubicBezTo>
                    <a:pt x="5272" y="2086803"/>
                    <a:pt x="0" y="2074075"/>
                    <a:pt x="0" y="2060803"/>
                  </a:cubicBezTo>
                  <a:lnTo>
                    <a:pt x="0" y="50042"/>
                  </a:lnTo>
                  <a:cubicBezTo>
                    <a:pt x="0" y="36770"/>
                    <a:pt x="5272" y="24042"/>
                    <a:pt x="14657" y="14657"/>
                  </a:cubicBezTo>
                  <a:cubicBezTo>
                    <a:pt x="24042" y="5272"/>
                    <a:pt x="36770" y="0"/>
                    <a:pt x="50042" y="0"/>
                  </a:cubicBezTo>
                  <a:close/>
                </a:path>
              </a:pathLst>
            </a:custGeom>
            <a:solidFill>
              <a:srgbClr val="2E576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078055" cy="2167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193300" y="4957648"/>
            <a:ext cx="1503516" cy="1025125"/>
          </a:xfrm>
          <a:custGeom>
            <a:avLst/>
            <a:gdLst/>
            <a:ahLst/>
            <a:cxnLst/>
            <a:rect r="r" b="b" t="t" l="l"/>
            <a:pathLst>
              <a:path h="1025125" w="1503516">
                <a:moveTo>
                  <a:pt x="0" y="0"/>
                </a:moveTo>
                <a:lnTo>
                  <a:pt x="1503516" y="0"/>
                </a:lnTo>
                <a:lnTo>
                  <a:pt x="1503516" y="1025124"/>
                </a:lnTo>
                <a:lnTo>
                  <a:pt x="0" y="1025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59812" y="7611900"/>
            <a:ext cx="1370491" cy="1312245"/>
          </a:xfrm>
          <a:custGeom>
            <a:avLst/>
            <a:gdLst/>
            <a:ahLst/>
            <a:cxnLst/>
            <a:rect r="r" b="b" t="t" l="l"/>
            <a:pathLst>
              <a:path h="1312245" w="1370491">
                <a:moveTo>
                  <a:pt x="0" y="0"/>
                </a:moveTo>
                <a:lnTo>
                  <a:pt x="1370491" y="0"/>
                </a:lnTo>
                <a:lnTo>
                  <a:pt x="1370491" y="1312246"/>
                </a:lnTo>
                <a:lnTo>
                  <a:pt x="0" y="1312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397885" y="2272385"/>
            <a:ext cx="7890115" cy="8014615"/>
            <a:chOff x="0" y="0"/>
            <a:chExt cx="2078055" cy="21108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8055" cy="2110845"/>
            </a:xfrm>
            <a:custGeom>
              <a:avLst/>
              <a:gdLst/>
              <a:ahLst/>
              <a:cxnLst/>
              <a:rect r="r" b="b" t="t" l="l"/>
              <a:pathLst>
                <a:path h="2110845" w="2078055">
                  <a:moveTo>
                    <a:pt x="50042" y="0"/>
                  </a:moveTo>
                  <a:lnTo>
                    <a:pt x="2028013" y="0"/>
                  </a:lnTo>
                  <a:cubicBezTo>
                    <a:pt x="2041285" y="0"/>
                    <a:pt x="2054013" y="5272"/>
                    <a:pt x="2063398" y="14657"/>
                  </a:cubicBezTo>
                  <a:cubicBezTo>
                    <a:pt x="2072783" y="24042"/>
                    <a:pt x="2078055" y="36770"/>
                    <a:pt x="2078055" y="50042"/>
                  </a:cubicBezTo>
                  <a:lnTo>
                    <a:pt x="2078055" y="2060803"/>
                  </a:lnTo>
                  <a:cubicBezTo>
                    <a:pt x="2078055" y="2074075"/>
                    <a:pt x="2072783" y="2086803"/>
                    <a:pt x="2063398" y="2096188"/>
                  </a:cubicBezTo>
                  <a:cubicBezTo>
                    <a:pt x="2054013" y="2105573"/>
                    <a:pt x="2041285" y="2110845"/>
                    <a:pt x="2028013" y="2110845"/>
                  </a:cubicBezTo>
                  <a:lnTo>
                    <a:pt x="50042" y="2110845"/>
                  </a:lnTo>
                  <a:cubicBezTo>
                    <a:pt x="36770" y="2110845"/>
                    <a:pt x="24042" y="2105573"/>
                    <a:pt x="14657" y="2096188"/>
                  </a:cubicBezTo>
                  <a:cubicBezTo>
                    <a:pt x="5272" y="2086803"/>
                    <a:pt x="0" y="2074075"/>
                    <a:pt x="0" y="2060803"/>
                  </a:cubicBezTo>
                  <a:lnTo>
                    <a:pt x="0" y="50042"/>
                  </a:lnTo>
                  <a:cubicBezTo>
                    <a:pt x="0" y="36770"/>
                    <a:pt x="5272" y="24042"/>
                    <a:pt x="14657" y="14657"/>
                  </a:cubicBezTo>
                  <a:cubicBezTo>
                    <a:pt x="24042" y="5272"/>
                    <a:pt x="36770" y="0"/>
                    <a:pt x="50042" y="0"/>
                  </a:cubicBezTo>
                  <a:close/>
                </a:path>
              </a:pathLst>
            </a:custGeom>
            <a:solidFill>
              <a:srgbClr val="993B3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078055" cy="2167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36812" y="6607267"/>
            <a:ext cx="1512704" cy="1399938"/>
          </a:xfrm>
          <a:custGeom>
            <a:avLst/>
            <a:gdLst/>
            <a:ahLst/>
            <a:cxnLst/>
            <a:rect r="r" b="b" t="t" l="l"/>
            <a:pathLst>
              <a:path h="1399938" w="1512704">
                <a:moveTo>
                  <a:pt x="0" y="0"/>
                </a:moveTo>
                <a:lnTo>
                  <a:pt x="1512704" y="0"/>
                </a:lnTo>
                <a:lnTo>
                  <a:pt x="1512704" y="1399938"/>
                </a:lnTo>
                <a:lnTo>
                  <a:pt x="0" y="13999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41946" y="4532147"/>
            <a:ext cx="1086396" cy="1512704"/>
          </a:xfrm>
          <a:custGeom>
            <a:avLst/>
            <a:gdLst/>
            <a:ahLst/>
            <a:cxnLst/>
            <a:rect r="r" b="b" t="t" l="l"/>
            <a:pathLst>
              <a:path h="1512704" w="1086396">
                <a:moveTo>
                  <a:pt x="0" y="0"/>
                </a:moveTo>
                <a:lnTo>
                  <a:pt x="1086397" y="0"/>
                </a:lnTo>
                <a:lnTo>
                  <a:pt x="1086397" y="1512703"/>
                </a:lnTo>
                <a:lnTo>
                  <a:pt x="0" y="15127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349477" y="6634771"/>
            <a:ext cx="1512704" cy="1344931"/>
          </a:xfrm>
          <a:custGeom>
            <a:avLst/>
            <a:gdLst/>
            <a:ahLst/>
            <a:cxnLst/>
            <a:rect r="r" b="b" t="t" l="l"/>
            <a:pathLst>
              <a:path h="1344931" w="1512704">
                <a:moveTo>
                  <a:pt x="0" y="0"/>
                </a:moveTo>
                <a:lnTo>
                  <a:pt x="1512703" y="0"/>
                </a:lnTo>
                <a:lnTo>
                  <a:pt x="1512703" y="1344931"/>
                </a:lnTo>
                <a:lnTo>
                  <a:pt x="0" y="13449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349477" y="4532147"/>
            <a:ext cx="1512704" cy="1512704"/>
          </a:xfrm>
          <a:custGeom>
            <a:avLst/>
            <a:gdLst/>
            <a:ahLst/>
            <a:cxnLst/>
            <a:rect r="r" b="b" t="t" l="l"/>
            <a:pathLst>
              <a:path h="1512704" w="1512704">
                <a:moveTo>
                  <a:pt x="0" y="0"/>
                </a:moveTo>
                <a:lnTo>
                  <a:pt x="1512703" y="0"/>
                </a:lnTo>
                <a:lnTo>
                  <a:pt x="1512703" y="1512703"/>
                </a:lnTo>
                <a:lnTo>
                  <a:pt x="0" y="15127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36812" y="4532147"/>
            <a:ext cx="1512704" cy="1512704"/>
          </a:xfrm>
          <a:custGeom>
            <a:avLst/>
            <a:gdLst/>
            <a:ahLst/>
            <a:cxnLst/>
            <a:rect r="r" b="b" t="t" l="l"/>
            <a:pathLst>
              <a:path h="1512704" w="1512704">
                <a:moveTo>
                  <a:pt x="0" y="0"/>
                </a:moveTo>
                <a:lnTo>
                  <a:pt x="1512704" y="0"/>
                </a:lnTo>
                <a:lnTo>
                  <a:pt x="1512704" y="1512703"/>
                </a:lnTo>
                <a:lnTo>
                  <a:pt x="0" y="15127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429038" y="6540150"/>
            <a:ext cx="1712214" cy="1712214"/>
          </a:xfrm>
          <a:custGeom>
            <a:avLst/>
            <a:gdLst/>
            <a:ahLst/>
            <a:cxnLst/>
            <a:rect r="r" b="b" t="t" l="l"/>
            <a:pathLst>
              <a:path h="1712214" w="1712214">
                <a:moveTo>
                  <a:pt x="0" y="0"/>
                </a:moveTo>
                <a:lnTo>
                  <a:pt x="1712213" y="0"/>
                </a:lnTo>
                <a:lnTo>
                  <a:pt x="1712213" y="1712214"/>
                </a:lnTo>
                <a:lnTo>
                  <a:pt x="0" y="17122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598927" y="8605098"/>
            <a:ext cx="1372435" cy="1512704"/>
          </a:xfrm>
          <a:custGeom>
            <a:avLst/>
            <a:gdLst/>
            <a:ahLst/>
            <a:cxnLst/>
            <a:rect r="r" b="b" t="t" l="l"/>
            <a:pathLst>
              <a:path h="1512704" w="1372435">
                <a:moveTo>
                  <a:pt x="0" y="0"/>
                </a:moveTo>
                <a:lnTo>
                  <a:pt x="1372435" y="0"/>
                </a:lnTo>
                <a:lnTo>
                  <a:pt x="1372435" y="1512704"/>
                </a:lnTo>
                <a:lnTo>
                  <a:pt x="0" y="15127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85777" y="249238"/>
            <a:ext cx="15316446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Tecnologías que usa el proyecto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8591" y="2422359"/>
            <a:ext cx="4892933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b="true" sz="699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Parte Física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49477" y="2306472"/>
            <a:ext cx="5986932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b="true" sz="80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Parte Lógica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68467" y="2806348"/>
            <a:ext cx="11936112" cy="6451952"/>
          </a:xfrm>
          <a:custGeom>
            <a:avLst/>
            <a:gdLst/>
            <a:ahLst/>
            <a:cxnLst/>
            <a:rect r="r" b="b" t="t" l="l"/>
            <a:pathLst>
              <a:path h="6451952" w="11936112">
                <a:moveTo>
                  <a:pt x="0" y="0"/>
                </a:moveTo>
                <a:lnTo>
                  <a:pt x="11936112" y="0"/>
                </a:lnTo>
                <a:lnTo>
                  <a:pt x="11936112" y="6451952"/>
                </a:lnTo>
                <a:lnTo>
                  <a:pt x="0" y="6451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33475"/>
            <a:ext cx="13950976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20"/>
              </a:lnSpc>
            </a:pP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Arquitectura del proyecto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3506347" y="0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4781653" y="0"/>
                </a:moveTo>
                <a:lnTo>
                  <a:pt x="0" y="0"/>
                </a:lnTo>
                <a:lnTo>
                  <a:pt x="0" y="5597722"/>
                </a:lnTo>
                <a:lnTo>
                  <a:pt x="4781653" y="5597722"/>
                </a:lnTo>
                <a:lnTo>
                  <a:pt x="47816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-1362127" y="4977049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4781654" y="0"/>
                </a:moveTo>
                <a:lnTo>
                  <a:pt x="0" y="0"/>
                </a:lnTo>
                <a:lnTo>
                  <a:pt x="0" y="5597722"/>
                </a:lnTo>
                <a:lnTo>
                  <a:pt x="4781654" y="5597722"/>
                </a:lnTo>
                <a:lnTo>
                  <a:pt x="478165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33475"/>
            <a:ext cx="13950976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20"/>
              </a:lnSpc>
            </a:pP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Modelamiento de Datos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235855" y="2239011"/>
            <a:ext cx="13816291" cy="8047989"/>
          </a:xfrm>
          <a:custGeom>
            <a:avLst/>
            <a:gdLst/>
            <a:ahLst/>
            <a:cxnLst/>
            <a:rect r="r" b="b" t="t" l="l"/>
            <a:pathLst>
              <a:path h="8047989" w="13816291">
                <a:moveTo>
                  <a:pt x="0" y="0"/>
                </a:moveTo>
                <a:lnTo>
                  <a:pt x="13816290" y="0"/>
                </a:lnTo>
                <a:lnTo>
                  <a:pt x="13816290" y="8047989"/>
                </a:lnTo>
                <a:lnTo>
                  <a:pt x="0" y="8047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506347" y="0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4781653" y="0"/>
                </a:moveTo>
                <a:lnTo>
                  <a:pt x="0" y="0"/>
                </a:lnTo>
                <a:lnTo>
                  <a:pt x="0" y="5597722"/>
                </a:lnTo>
                <a:lnTo>
                  <a:pt x="4781653" y="5597722"/>
                </a:lnTo>
                <a:lnTo>
                  <a:pt x="47816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-1362127" y="4977049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4781654" y="0"/>
                </a:moveTo>
                <a:lnTo>
                  <a:pt x="0" y="0"/>
                </a:lnTo>
                <a:lnTo>
                  <a:pt x="0" y="5597722"/>
                </a:lnTo>
                <a:lnTo>
                  <a:pt x="4781654" y="5597722"/>
                </a:lnTo>
                <a:lnTo>
                  <a:pt x="478165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84795" y="-438952"/>
            <a:ext cx="2549009" cy="4766647"/>
          </a:xfrm>
          <a:custGeom>
            <a:avLst/>
            <a:gdLst/>
            <a:ahLst/>
            <a:cxnLst/>
            <a:rect r="r" b="b" t="t" l="l"/>
            <a:pathLst>
              <a:path h="4766647" w="2549009">
                <a:moveTo>
                  <a:pt x="0" y="0"/>
                </a:moveTo>
                <a:lnTo>
                  <a:pt x="2549010" y="0"/>
                </a:lnTo>
                <a:lnTo>
                  <a:pt x="2549010" y="4766648"/>
                </a:lnTo>
                <a:lnTo>
                  <a:pt x="0" y="4766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633553">
            <a:off x="-840621" y="7103025"/>
            <a:ext cx="6955128" cy="5871468"/>
          </a:xfrm>
          <a:custGeom>
            <a:avLst/>
            <a:gdLst/>
            <a:ahLst/>
            <a:cxnLst/>
            <a:rect r="r" b="b" t="t" l="l"/>
            <a:pathLst>
              <a:path h="5871468" w="6955128">
                <a:moveTo>
                  <a:pt x="0" y="0"/>
                </a:moveTo>
                <a:lnTo>
                  <a:pt x="6955128" y="0"/>
                </a:lnTo>
                <a:lnTo>
                  <a:pt x="6955128" y="5871468"/>
                </a:lnTo>
                <a:lnTo>
                  <a:pt x="0" y="5871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33475"/>
            <a:ext cx="13950976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Modelo de Negocio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51686" y="3487442"/>
            <a:ext cx="12856619" cy="4483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6762" indent="-343381" lvl="1">
              <a:lnSpc>
                <a:spcPts val="4453"/>
              </a:lnSpc>
              <a:buFont typeface="Arial"/>
              <a:buChar char="•"/>
            </a:pPr>
            <a:r>
              <a:rPr lang="en-US" b="true" sz="318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El uso de la App y sus funciones son de uso gratuito, pero exclusivo para usuarios con el módulo instalado en su vehículo.</a:t>
            </a:r>
          </a:p>
          <a:p>
            <a:pPr algn="l">
              <a:lnSpc>
                <a:spcPts val="4453"/>
              </a:lnSpc>
            </a:pPr>
          </a:p>
          <a:p>
            <a:pPr algn="l" marL="686762" indent="-343381" lvl="1">
              <a:lnSpc>
                <a:spcPts val="4453"/>
              </a:lnSpc>
              <a:buFont typeface="Arial"/>
              <a:buChar char="•"/>
            </a:pPr>
            <a:r>
              <a:rPr lang="en-US" b="true" sz="318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 instalación de dicho módulo en el auto del usuario tiene un costo inicial y requiere acudir a un taller para ello.</a:t>
            </a:r>
          </a:p>
          <a:p>
            <a:pPr algn="l">
              <a:lnSpc>
                <a:spcPts val="4453"/>
              </a:lnSpc>
            </a:pPr>
          </a:p>
          <a:p>
            <a:pPr algn="l" marL="686762" indent="-343381" lvl="1">
              <a:lnSpc>
                <a:spcPts val="4453"/>
              </a:lnSpc>
              <a:buFont typeface="Arial"/>
              <a:buChar char="•"/>
            </a:pPr>
            <a:r>
              <a:rPr lang="en-US" b="true" sz="318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Publicidad de recomendación de talleres y/o productos para el mantenimiento de los componentes.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72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93746" y="4144168"/>
            <a:ext cx="11700507" cy="1717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FECC8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Interfaz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0079" y="848016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79"/>
                </a:lnTo>
                <a:lnTo>
                  <a:pt x="0" y="134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93746" y="2956719"/>
            <a:ext cx="11700507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¿Cómo es la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93746" y="5690394"/>
            <a:ext cx="11700507" cy="138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del proyecto?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150421" y="35681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80"/>
                </a:lnTo>
                <a:lnTo>
                  <a:pt x="0" y="1343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4615339">
            <a:off x="8719772" y="8309723"/>
            <a:ext cx="11283410" cy="12300947"/>
            <a:chOff x="0" y="0"/>
            <a:chExt cx="2971762" cy="323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71762" cy="3239756"/>
            </a:xfrm>
            <a:custGeom>
              <a:avLst/>
              <a:gdLst/>
              <a:ahLst/>
              <a:cxnLst/>
              <a:rect r="r" b="b" t="t" l="l"/>
              <a:pathLst>
                <a:path h="3239756" w="2971762">
                  <a:moveTo>
                    <a:pt x="0" y="0"/>
                  </a:moveTo>
                  <a:lnTo>
                    <a:pt x="2971762" y="0"/>
                  </a:lnTo>
                  <a:lnTo>
                    <a:pt x="2971762" y="3239756"/>
                  </a:lnTo>
                  <a:lnTo>
                    <a:pt x="0" y="3239756"/>
                  </a:lnTo>
                  <a:close/>
                </a:path>
              </a:pathLst>
            </a:custGeom>
            <a:solidFill>
              <a:srgbClr val="444C5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971762" cy="3296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700257" y="1361807"/>
            <a:ext cx="4103394" cy="7563387"/>
          </a:xfrm>
          <a:custGeom>
            <a:avLst/>
            <a:gdLst/>
            <a:ahLst/>
            <a:cxnLst/>
            <a:rect r="r" b="b" t="t" l="l"/>
            <a:pathLst>
              <a:path h="7563387" w="4103394">
                <a:moveTo>
                  <a:pt x="0" y="0"/>
                </a:moveTo>
                <a:lnTo>
                  <a:pt x="4103394" y="0"/>
                </a:lnTo>
                <a:lnTo>
                  <a:pt x="4103394" y="7563386"/>
                </a:lnTo>
                <a:lnTo>
                  <a:pt x="0" y="7563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18680" y="2648862"/>
            <a:ext cx="2108376" cy="2036500"/>
          </a:xfrm>
          <a:custGeom>
            <a:avLst/>
            <a:gdLst/>
            <a:ahLst/>
            <a:cxnLst/>
            <a:rect r="r" b="b" t="t" l="l"/>
            <a:pathLst>
              <a:path h="2036500" w="2108376">
                <a:moveTo>
                  <a:pt x="0" y="0"/>
                </a:moveTo>
                <a:lnTo>
                  <a:pt x="2108376" y="0"/>
                </a:lnTo>
                <a:lnTo>
                  <a:pt x="2108376" y="2036500"/>
                </a:lnTo>
                <a:lnTo>
                  <a:pt x="0" y="2036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08904" y="3600450"/>
            <a:ext cx="3086100" cy="3086100"/>
            <a:chOff x="0" y="0"/>
            <a:chExt cx="4114800" cy="41148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114800" cy="4114800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2338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394193" y="1446550"/>
              <a:ext cx="3326413" cy="1221701"/>
            </a:xfrm>
            <a:custGeom>
              <a:avLst/>
              <a:gdLst/>
              <a:ahLst/>
              <a:cxnLst/>
              <a:rect r="r" b="b" t="t" l="l"/>
              <a:pathLst>
                <a:path h="1221701" w="3326413">
                  <a:moveTo>
                    <a:pt x="0" y="0"/>
                  </a:moveTo>
                  <a:lnTo>
                    <a:pt x="3326414" y="0"/>
                  </a:lnTo>
                  <a:lnTo>
                    <a:pt x="3326414" y="1221700"/>
                  </a:lnTo>
                  <a:lnTo>
                    <a:pt x="0" y="122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-3451895">
            <a:off x="13482172" y="5837221"/>
            <a:ext cx="1758610" cy="1698658"/>
          </a:xfrm>
          <a:custGeom>
            <a:avLst/>
            <a:gdLst/>
            <a:ahLst/>
            <a:cxnLst/>
            <a:rect r="r" b="b" t="t" l="l"/>
            <a:pathLst>
              <a:path h="1698658" w="1758610">
                <a:moveTo>
                  <a:pt x="0" y="0"/>
                </a:moveTo>
                <a:lnTo>
                  <a:pt x="1758611" y="0"/>
                </a:lnTo>
                <a:lnTo>
                  <a:pt x="1758611" y="1698658"/>
                </a:lnTo>
                <a:lnTo>
                  <a:pt x="0" y="16986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2478428">
            <a:off x="-5890938" y="-5320245"/>
            <a:ext cx="9497372" cy="11145380"/>
            <a:chOff x="0" y="0"/>
            <a:chExt cx="2501366" cy="29354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01366" cy="2935409"/>
            </a:xfrm>
            <a:custGeom>
              <a:avLst/>
              <a:gdLst/>
              <a:ahLst/>
              <a:cxnLst/>
              <a:rect r="r" b="b" t="t" l="l"/>
              <a:pathLst>
                <a:path h="2935409" w="2501366">
                  <a:moveTo>
                    <a:pt x="0" y="0"/>
                  </a:moveTo>
                  <a:lnTo>
                    <a:pt x="2501366" y="0"/>
                  </a:lnTo>
                  <a:lnTo>
                    <a:pt x="2501366" y="2935409"/>
                  </a:lnTo>
                  <a:lnTo>
                    <a:pt x="0" y="2935409"/>
                  </a:lnTo>
                  <a:close/>
                </a:path>
              </a:pathLst>
            </a:custGeom>
            <a:solidFill>
              <a:srgbClr val="444C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01366" cy="2992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82829" y="4119245"/>
            <a:ext cx="6598501" cy="215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8000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Demostración de la App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B4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7521" y="4144168"/>
            <a:ext cx="11700507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2E576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Siguientes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0079" y="848016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79"/>
                </a:lnTo>
                <a:lnTo>
                  <a:pt x="0" y="134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87521" y="2956719"/>
            <a:ext cx="11700507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Pasos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150421" y="35681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80"/>
                </a:lnTo>
                <a:lnTo>
                  <a:pt x="0" y="1343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0289"/>
            <a:ext cx="12618527" cy="70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89"/>
              </a:lnSpc>
              <a:spcBef>
                <a:spcPct val="0"/>
              </a:spcBef>
            </a:pPr>
            <a:r>
              <a:rPr lang="en-US" b="true" sz="5182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Mejoras pendientes: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3515872" y="-9525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4781653" y="0"/>
                </a:moveTo>
                <a:lnTo>
                  <a:pt x="0" y="0"/>
                </a:lnTo>
                <a:lnTo>
                  <a:pt x="0" y="5597722"/>
                </a:lnTo>
                <a:lnTo>
                  <a:pt x="4781653" y="5597722"/>
                </a:lnTo>
                <a:lnTo>
                  <a:pt x="47816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94749" y="8054341"/>
            <a:ext cx="3013244" cy="2232659"/>
            <a:chOff x="0" y="0"/>
            <a:chExt cx="4017658" cy="29768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995969" y="963678"/>
              <a:ext cx="3021689" cy="2013200"/>
            </a:xfrm>
            <a:custGeom>
              <a:avLst/>
              <a:gdLst/>
              <a:ahLst/>
              <a:cxnLst/>
              <a:rect r="r" b="b" t="t" l="l"/>
              <a:pathLst>
                <a:path h="2013200" w="3021689">
                  <a:moveTo>
                    <a:pt x="0" y="0"/>
                  </a:moveTo>
                  <a:lnTo>
                    <a:pt x="3021689" y="0"/>
                  </a:lnTo>
                  <a:lnTo>
                    <a:pt x="3021689" y="2013200"/>
                  </a:lnTo>
                  <a:lnTo>
                    <a:pt x="0" y="201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1341949"/>
              <a:ext cx="1634929" cy="1634929"/>
            </a:xfrm>
            <a:custGeom>
              <a:avLst/>
              <a:gdLst/>
              <a:ahLst/>
              <a:cxnLst/>
              <a:rect r="r" b="b" t="t" l="l"/>
              <a:pathLst>
                <a:path h="1634929" w="1634929">
                  <a:moveTo>
                    <a:pt x="0" y="0"/>
                  </a:moveTo>
                  <a:lnTo>
                    <a:pt x="1634929" y="0"/>
                  </a:lnTo>
                  <a:lnTo>
                    <a:pt x="1634929" y="1634929"/>
                  </a:lnTo>
                  <a:lnTo>
                    <a:pt x="0" y="1634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817464" y="0"/>
              <a:ext cx="1927355" cy="1927355"/>
            </a:xfrm>
            <a:custGeom>
              <a:avLst/>
              <a:gdLst/>
              <a:ahLst/>
              <a:cxnLst/>
              <a:rect r="r" b="b" t="t" l="l"/>
              <a:pathLst>
                <a:path h="1927355" w="1927355">
                  <a:moveTo>
                    <a:pt x="0" y="0"/>
                  </a:moveTo>
                  <a:lnTo>
                    <a:pt x="1927355" y="0"/>
                  </a:lnTo>
                  <a:lnTo>
                    <a:pt x="1927355" y="1927355"/>
                  </a:lnTo>
                  <a:lnTo>
                    <a:pt x="0" y="1927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166693" y="8265160"/>
            <a:ext cx="2111814" cy="1811021"/>
          </a:xfrm>
          <a:custGeom>
            <a:avLst/>
            <a:gdLst/>
            <a:ahLst/>
            <a:cxnLst/>
            <a:rect r="r" b="b" t="t" l="l"/>
            <a:pathLst>
              <a:path h="1811021" w="2111814">
                <a:moveTo>
                  <a:pt x="0" y="0"/>
                </a:moveTo>
                <a:lnTo>
                  <a:pt x="2111814" y="0"/>
                </a:lnTo>
                <a:lnTo>
                  <a:pt x="2111814" y="1811021"/>
                </a:lnTo>
                <a:lnTo>
                  <a:pt x="0" y="18110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84359" y="8397788"/>
            <a:ext cx="2122339" cy="1721024"/>
          </a:xfrm>
          <a:custGeom>
            <a:avLst/>
            <a:gdLst/>
            <a:ahLst/>
            <a:cxnLst/>
            <a:rect r="r" b="b" t="t" l="l"/>
            <a:pathLst>
              <a:path h="1721024" w="2122339">
                <a:moveTo>
                  <a:pt x="0" y="0"/>
                </a:moveTo>
                <a:lnTo>
                  <a:pt x="2122339" y="0"/>
                </a:lnTo>
                <a:lnTo>
                  <a:pt x="2122339" y="1721024"/>
                </a:lnTo>
                <a:lnTo>
                  <a:pt x="0" y="17210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676738"/>
            <a:ext cx="15669397" cy="592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Entre las mejoras planeadas:</a:t>
            </a:r>
          </a:p>
          <a:p>
            <a:pPr algn="l" marL="605025" indent="-302512" lvl="1">
              <a:lnSpc>
                <a:spcPts val="3923"/>
              </a:lnSpc>
              <a:buFont typeface="Arial"/>
              <a:buChar char="•"/>
            </a:pPr>
            <a:r>
              <a:rPr lang="en-US" b="true" sz="2802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Integración de control de más componentes.</a:t>
            </a:r>
          </a:p>
          <a:p>
            <a:pPr algn="l">
              <a:lnSpc>
                <a:spcPts val="3923"/>
              </a:lnSpc>
            </a:pPr>
          </a:p>
          <a:p>
            <a:pPr algn="l" marL="605025" indent="-302512" lvl="1">
              <a:lnSpc>
                <a:spcPts val="3923"/>
              </a:lnSpc>
              <a:buFont typeface="Arial"/>
              <a:buChar char="•"/>
            </a:pPr>
            <a:r>
              <a:rPr lang="en-US" b="true" sz="2802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Extensión de la variedad de los datos de mantención de autos de diversas marcas y modelos.</a:t>
            </a:r>
          </a:p>
          <a:p>
            <a:pPr algn="l">
              <a:lnSpc>
                <a:spcPts val="3923"/>
              </a:lnSpc>
            </a:pPr>
          </a:p>
          <a:p>
            <a:pPr algn="l" marL="605025" indent="-302512" lvl="1">
              <a:lnSpc>
                <a:spcPts val="3923"/>
              </a:lnSpc>
              <a:buFont typeface="Arial"/>
              <a:buChar char="•"/>
            </a:pPr>
            <a:r>
              <a:rPr lang="en-US" b="true" sz="2802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Comandos por voz: Asistente IA.</a:t>
            </a:r>
          </a:p>
          <a:p>
            <a:pPr algn="l">
              <a:lnSpc>
                <a:spcPts val="3923"/>
              </a:lnSpc>
            </a:pPr>
          </a:p>
          <a:p>
            <a:pPr algn="l" marL="605025" indent="-302512" lvl="1">
              <a:lnSpc>
                <a:spcPts val="3923"/>
              </a:lnSpc>
              <a:buFont typeface="Arial"/>
              <a:buChar char="•"/>
            </a:pPr>
            <a:r>
              <a:rPr lang="en-US" b="true" sz="2802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Para vehículos más modernos, que eventualmente requieran un cambio de motor gasoil a eléctrico, un sistema que rescate los módulos de seguridad pasiva y activa del vehículo.</a:t>
            </a:r>
          </a:p>
          <a:p>
            <a:pPr algn="l">
              <a:lnSpc>
                <a:spcPts val="3923"/>
              </a:lnSpc>
            </a:pPr>
          </a:p>
          <a:p>
            <a:pPr algn="l" marL="605025" indent="-302512" lvl="1">
              <a:lnSpc>
                <a:spcPts val="3923"/>
              </a:lnSpc>
              <a:buFont typeface="Arial"/>
              <a:buChar char="•"/>
            </a:pPr>
            <a:r>
              <a:rPr lang="en-US" b="true" sz="2802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Dashboard de medidas de otros sensores (por ejemplo, temperatura del motor).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522011" y="8108236"/>
            <a:ext cx="2130207" cy="1967945"/>
          </a:xfrm>
          <a:custGeom>
            <a:avLst/>
            <a:gdLst/>
            <a:ahLst/>
            <a:cxnLst/>
            <a:rect r="r" b="b" t="t" l="l"/>
            <a:pathLst>
              <a:path h="1967945" w="2130207">
                <a:moveTo>
                  <a:pt x="0" y="0"/>
                </a:moveTo>
                <a:lnTo>
                  <a:pt x="2130207" y="0"/>
                </a:lnTo>
                <a:lnTo>
                  <a:pt x="2130207" y="1967945"/>
                </a:lnTo>
                <a:lnTo>
                  <a:pt x="0" y="19679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435" r="-11961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09227" y="4350602"/>
            <a:ext cx="5023681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20"/>
              </a:lnSpc>
              <a:spcBef>
                <a:spcPct val="0"/>
              </a:spcBef>
            </a:pPr>
            <a:r>
              <a:rPr lang="en-US" b="true" sz="8000" u="non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DAG2cB6RR0Y</dc:identifier>
  <dcterms:modified xsi:type="dcterms:W3CDTF">2011-08-01T06:04:30Z</dcterms:modified>
  <cp:revision>1</cp:revision>
  <dc:title>Proyecto APT - Fase 3</dc:title>
</cp:coreProperties>
</file>