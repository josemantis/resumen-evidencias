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Glacial Indifference" charset="1" panose="00000000000000000000"/>
      <p:regular r:id="rId19"/>
    </p:embeddedFont>
    <p:embeddedFont>
      <p:font typeface="Glacial Indifference Bold" charset="1" panose="00000800000000000000"/>
      <p:regular r:id="rId20"/>
    </p:embeddedFont>
    <p:embeddedFont>
      <p:font typeface="Open Sans Bold" charset="1" panose="020B0806030504020204"/>
      <p:regular r:id="rId21"/>
    </p:embeddedFont>
    <p:embeddedFont>
      <p:font typeface="Contrail One" charset="1" panose="02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2.png" Type="http://schemas.openxmlformats.org/officeDocument/2006/relationships/image"/><Relationship Id="rId14" Target="../media/image23.svg" Type="http://schemas.openxmlformats.org/officeDocument/2006/relationships/image"/><Relationship Id="rId15" Target="../media/image24.png" Type="http://schemas.openxmlformats.org/officeDocument/2006/relationships/image"/><Relationship Id="rId16" Target="../media/image25.svg" Type="http://schemas.openxmlformats.org/officeDocument/2006/relationships/image"/><Relationship Id="rId17" Target="../media/image26.png" Type="http://schemas.openxmlformats.org/officeDocument/2006/relationships/image"/><Relationship Id="rId18" Target="../media/image27.svg" Type="http://schemas.openxmlformats.org/officeDocument/2006/relationships/image"/><Relationship Id="rId19" Target="../media/image28.png" Type="http://schemas.openxmlformats.org/officeDocument/2006/relationships/image"/><Relationship Id="rId2" Target="../media/image11.png" Type="http://schemas.openxmlformats.org/officeDocument/2006/relationships/image"/><Relationship Id="rId20" Target="../media/image29.svg" Type="http://schemas.openxmlformats.org/officeDocument/2006/relationships/image"/><Relationship Id="rId21" Target="../media/image30.png" Type="http://schemas.openxmlformats.org/officeDocument/2006/relationships/image"/><Relationship Id="rId22" Target="../media/image31.sv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jpeg" Type="http://schemas.openxmlformats.org/officeDocument/2006/relationships/image"/><Relationship Id="rId3" Target="../media/image37.jpeg" Type="http://schemas.openxmlformats.org/officeDocument/2006/relationships/image"/><Relationship Id="rId4" Target="../media/image38.jpeg" Type="http://schemas.openxmlformats.org/officeDocument/2006/relationships/image"/><Relationship Id="rId5" Target="../media/image39.jpeg" Type="http://schemas.openxmlformats.org/officeDocument/2006/relationships/image"/><Relationship Id="rId6" Target="../media/image4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svg" Type="http://schemas.openxmlformats.org/officeDocument/2006/relationships/image"/><Relationship Id="rId12" Target="../media/image49.png" Type="http://schemas.openxmlformats.org/officeDocument/2006/relationships/image"/><Relationship Id="rId13" Target="../media/image50.svg" Type="http://schemas.openxmlformats.org/officeDocument/2006/relationships/image"/><Relationship Id="rId14" Target="../media/image51.png" Type="http://schemas.openxmlformats.org/officeDocument/2006/relationships/image"/><Relationship Id="rId15" Target="../media/image52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png" Type="http://schemas.openxmlformats.org/officeDocument/2006/relationships/image"/><Relationship Id="rId11" Target="../media/image64.svg" Type="http://schemas.openxmlformats.org/officeDocument/2006/relationships/image"/><Relationship Id="rId12" Target="../media/image65.png" Type="http://schemas.openxmlformats.org/officeDocument/2006/relationships/image"/><Relationship Id="rId13" Target="../media/image66.svg" Type="http://schemas.openxmlformats.org/officeDocument/2006/relationships/image"/><Relationship Id="rId14" Target="../media/image67.png" Type="http://schemas.openxmlformats.org/officeDocument/2006/relationships/image"/><Relationship Id="rId15" Target="../media/image68.svg" Type="http://schemas.openxmlformats.org/officeDocument/2006/relationships/image"/><Relationship Id="rId2" Target="../media/image55.png" Type="http://schemas.openxmlformats.org/officeDocument/2006/relationships/image"/><Relationship Id="rId3" Target="../media/image56.svg" Type="http://schemas.openxmlformats.org/officeDocument/2006/relationships/image"/><Relationship Id="rId4" Target="../media/image57.png" Type="http://schemas.openxmlformats.org/officeDocument/2006/relationships/image"/><Relationship Id="rId5" Target="../media/image58.svg" Type="http://schemas.openxmlformats.org/officeDocument/2006/relationships/image"/><Relationship Id="rId6" Target="../media/image59.png" Type="http://schemas.openxmlformats.org/officeDocument/2006/relationships/image"/><Relationship Id="rId7" Target="../media/image60.svg" Type="http://schemas.openxmlformats.org/officeDocument/2006/relationships/image"/><Relationship Id="rId8" Target="../media/image61.png" Type="http://schemas.openxmlformats.org/officeDocument/2006/relationships/image"/><Relationship Id="rId9" Target="../media/image6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9.png" Type="http://schemas.openxmlformats.org/officeDocument/2006/relationships/image"/><Relationship Id="rId3" Target="../media/image70.png" Type="http://schemas.openxmlformats.org/officeDocument/2006/relationships/image"/><Relationship Id="rId4" Target="../media/image71.svg" Type="http://schemas.openxmlformats.org/officeDocument/2006/relationships/image"/><Relationship Id="rId5" Target="../media/image72.png" Type="http://schemas.openxmlformats.org/officeDocument/2006/relationships/image"/><Relationship Id="rId6" Target="../media/image7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1485934" y="0"/>
            <a:ext cx="6802066" cy="7962952"/>
          </a:xfrm>
          <a:custGeom>
            <a:avLst/>
            <a:gdLst/>
            <a:ahLst/>
            <a:cxnLst/>
            <a:rect r="r" b="b" t="t" l="l"/>
            <a:pathLst>
              <a:path h="7962952" w="6802066">
                <a:moveTo>
                  <a:pt x="6802066" y="0"/>
                </a:moveTo>
                <a:lnTo>
                  <a:pt x="0" y="0"/>
                </a:lnTo>
                <a:lnTo>
                  <a:pt x="0" y="7962952"/>
                </a:lnTo>
                <a:lnTo>
                  <a:pt x="6802066" y="7962952"/>
                </a:lnTo>
                <a:lnTo>
                  <a:pt x="68020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037818" y="5960194"/>
            <a:ext cx="0" cy="193655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43661" y="200447"/>
            <a:ext cx="6804644" cy="2189199"/>
          </a:xfrm>
          <a:custGeom>
            <a:avLst/>
            <a:gdLst/>
            <a:ahLst/>
            <a:cxnLst/>
            <a:rect r="r" b="b" t="t" l="l"/>
            <a:pathLst>
              <a:path h="2189199" w="6804644">
                <a:moveTo>
                  <a:pt x="0" y="0"/>
                </a:moveTo>
                <a:lnTo>
                  <a:pt x="6804644" y="0"/>
                </a:lnTo>
                <a:lnTo>
                  <a:pt x="6804644" y="2189199"/>
                </a:lnTo>
                <a:lnTo>
                  <a:pt x="0" y="21891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683098" y="8597984"/>
            <a:ext cx="3770193" cy="1320698"/>
            <a:chOff x="0" y="0"/>
            <a:chExt cx="992973" cy="3478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92973" cy="347838"/>
            </a:xfrm>
            <a:custGeom>
              <a:avLst/>
              <a:gdLst/>
              <a:ahLst/>
              <a:cxnLst/>
              <a:rect r="r" b="b" t="t" l="l"/>
              <a:pathLst>
                <a:path h="347838" w="992973">
                  <a:moveTo>
                    <a:pt x="30802" y="0"/>
                  </a:moveTo>
                  <a:lnTo>
                    <a:pt x="962171" y="0"/>
                  </a:lnTo>
                  <a:cubicBezTo>
                    <a:pt x="979182" y="0"/>
                    <a:pt x="992973" y="13790"/>
                    <a:pt x="992973" y="30802"/>
                  </a:cubicBezTo>
                  <a:lnTo>
                    <a:pt x="992973" y="317036"/>
                  </a:lnTo>
                  <a:cubicBezTo>
                    <a:pt x="992973" y="325206"/>
                    <a:pt x="989728" y="333040"/>
                    <a:pt x="983951" y="338817"/>
                  </a:cubicBezTo>
                  <a:cubicBezTo>
                    <a:pt x="978175" y="344593"/>
                    <a:pt x="970340" y="347838"/>
                    <a:pt x="962171" y="347838"/>
                  </a:cubicBezTo>
                  <a:lnTo>
                    <a:pt x="30802" y="347838"/>
                  </a:lnTo>
                  <a:cubicBezTo>
                    <a:pt x="13790" y="347838"/>
                    <a:pt x="0" y="334048"/>
                    <a:pt x="0" y="317036"/>
                  </a:cubicBezTo>
                  <a:lnTo>
                    <a:pt x="0" y="30802"/>
                  </a:lnTo>
                  <a:cubicBezTo>
                    <a:pt x="0" y="22633"/>
                    <a:pt x="3245" y="14798"/>
                    <a:pt x="9022" y="9022"/>
                  </a:cubicBezTo>
                  <a:cubicBezTo>
                    <a:pt x="14798" y="3245"/>
                    <a:pt x="22633" y="0"/>
                    <a:pt x="30802" y="0"/>
                  </a:cubicBezTo>
                  <a:close/>
                </a:path>
              </a:pathLst>
            </a:custGeom>
            <a:solidFill>
              <a:srgbClr val="FFB716">
                <a:alpha val="47843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992973" cy="4049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912370" y="8731918"/>
            <a:ext cx="3375630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Miguel Mercado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José Cedeño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58424" y="5182249"/>
            <a:ext cx="5460345" cy="3086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200"/>
              </a:lnSpc>
              <a:spcBef>
                <a:spcPct val="0"/>
              </a:spcBef>
            </a:pPr>
            <a:r>
              <a:rPr lang="en-US" b="true" sz="18000" spc="-180">
                <a:solidFill>
                  <a:srgbClr val="2E576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MCU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78424" y="3348720"/>
            <a:ext cx="7401245" cy="1783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60"/>
              </a:lnSpc>
            </a:pPr>
            <a:r>
              <a:rPr lang="en-US" sz="10400" spc="-104">
                <a:solidFill>
                  <a:srgbClr val="2E576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Proyecto APT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24427" y="5677138"/>
            <a:ext cx="3105745" cy="2325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02"/>
              </a:lnSpc>
            </a:pPr>
            <a:r>
              <a:rPr lang="en-US" sz="4430" b="true">
                <a:solidFill>
                  <a:srgbClr val="2E57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</a:t>
            </a:r>
            <a:r>
              <a:rPr lang="en-US" sz="4430" b="true">
                <a:solidFill>
                  <a:srgbClr val="44444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ódulo de</a:t>
            </a:r>
            <a:r>
              <a:rPr lang="en-US" sz="443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  <a:p>
            <a:pPr algn="just">
              <a:lnSpc>
                <a:spcPts val="6202"/>
              </a:lnSpc>
            </a:pPr>
            <a:r>
              <a:rPr lang="en-US" sz="4430" b="true">
                <a:solidFill>
                  <a:srgbClr val="2E57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</a:t>
            </a:r>
            <a:r>
              <a:rPr lang="en-US" sz="4430" b="true">
                <a:solidFill>
                  <a:srgbClr val="44444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ontrol</a:t>
            </a:r>
          </a:p>
          <a:p>
            <a:pPr algn="just" marL="0" indent="0" lvl="0">
              <a:lnSpc>
                <a:spcPts val="6202"/>
              </a:lnSpc>
              <a:spcBef>
                <a:spcPct val="0"/>
              </a:spcBef>
            </a:pPr>
            <a:r>
              <a:rPr lang="en-US" b="true" sz="4430">
                <a:solidFill>
                  <a:srgbClr val="2E576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</a:t>
            </a:r>
            <a:r>
              <a:rPr lang="en-US" b="true" sz="4430">
                <a:solidFill>
                  <a:srgbClr val="44444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niversal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D58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87521" y="4144168"/>
            <a:ext cx="11700507" cy="1717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b="true" sz="9999">
                <a:solidFill>
                  <a:srgbClr val="FECC8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controlar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470079" y="8480160"/>
            <a:ext cx="7315200" cy="1343780"/>
          </a:xfrm>
          <a:custGeom>
            <a:avLst/>
            <a:gdLst/>
            <a:ahLst/>
            <a:cxnLst/>
            <a:rect r="r" b="b" t="t" l="l"/>
            <a:pathLst>
              <a:path h="1343780" w="7315200">
                <a:moveTo>
                  <a:pt x="0" y="0"/>
                </a:moveTo>
                <a:lnTo>
                  <a:pt x="7315200" y="0"/>
                </a:lnTo>
                <a:lnTo>
                  <a:pt x="7315200" y="1343779"/>
                </a:lnTo>
                <a:lnTo>
                  <a:pt x="0" y="13437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87521" y="2956719"/>
            <a:ext cx="11700507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¿Y si pudieras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93746" y="5601493"/>
            <a:ext cx="11700507" cy="280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tu auto        </a:t>
            </a:r>
            <a:r>
              <a:rPr lang="en-US" sz="8000">
                <a:solidFill>
                  <a:srgbClr val="00D8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8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desde tu teléfono?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150421" y="356810"/>
            <a:ext cx="7315200" cy="1343780"/>
          </a:xfrm>
          <a:custGeom>
            <a:avLst/>
            <a:gdLst/>
            <a:ahLst/>
            <a:cxnLst/>
            <a:rect r="r" b="b" t="t" l="l"/>
            <a:pathLst>
              <a:path h="1343780" w="7315200">
                <a:moveTo>
                  <a:pt x="0" y="0"/>
                </a:moveTo>
                <a:lnTo>
                  <a:pt x="7315200" y="0"/>
                </a:lnTo>
                <a:lnTo>
                  <a:pt x="7315200" y="1343780"/>
                </a:lnTo>
                <a:lnTo>
                  <a:pt x="0" y="13437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507901" y="5694277"/>
            <a:ext cx="6723559" cy="1292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40"/>
              </a:lnSpc>
            </a:pPr>
            <a:r>
              <a:rPr lang="en-US" sz="7600">
                <a:solidFill>
                  <a:srgbClr val="00D8FF"/>
                </a:solidFill>
                <a:latin typeface="Contrail One"/>
                <a:ea typeface="Contrail One"/>
                <a:cs typeface="Contrail One"/>
                <a:sym typeface="Contrail One"/>
              </a:rPr>
              <a:t>joyita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84788" y="2297429"/>
            <a:ext cx="7168125" cy="2846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8D1F7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MCU</a:t>
            </a:r>
            <a:r>
              <a:rPr lang="en-US" sz="2699" b="true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es un modulo que permitirá en primera instancia controlar todos los sistemas de confort del vehículo, a través de una interfaz preprogramada que permitirá al usuario conectar los elementos según sean requeridos.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3506347" y="0"/>
            <a:ext cx="4781653" cy="5597722"/>
          </a:xfrm>
          <a:custGeom>
            <a:avLst/>
            <a:gdLst/>
            <a:ahLst/>
            <a:cxnLst/>
            <a:rect r="r" b="b" t="t" l="l"/>
            <a:pathLst>
              <a:path h="5597722" w="4781653">
                <a:moveTo>
                  <a:pt x="4781653" y="0"/>
                </a:moveTo>
                <a:lnTo>
                  <a:pt x="0" y="0"/>
                </a:lnTo>
                <a:lnTo>
                  <a:pt x="0" y="5597722"/>
                </a:lnTo>
                <a:lnTo>
                  <a:pt x="4781653" y="5597722"/>
                </a:lnTo>
                <a:lnTo>
                  <a:pt x="478165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00226" y="-2988874"/>
            <a:ext cx="9981158" cy="9745240"/>
          </a:xfrm>
          <a:custGeom>
            <a:avLst/>
            <a:gdLst/>
            <a:ahLst/>
            <a:cxnLst/>
            <a:rect r="r" b="b" t="t" l="l"/>
            <a:pathLst>
              <a:path h="9745240" w="9981158">
                <a:moveTo>
                  <a:pt x="0" y="0"/>
                </a:moveTo>
                <a:lnTo>
                  <a:pt x="9981159" y="0"/>
                </a:lnTo>
                <a:lnTo>
                  <a:pt x="9981159" y="9745240"/>
                </a:lnTo>
                <a:lnTo>
                  <a:pt x="0" y="97452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18034" y="7035000"/>
            <a:ext cx="6562898" cy="3262184"/>
          </a:xfrm>
          <a:custGeom>
            <a:avLst/>
            <a:gdLst/>
            <a:ahLst/>
            <a:cxnLst/>
            <a:rect r="r" b="b" t="t" l="l"/>
            <a:pathLst>
              <a:path h="3262184" w="6562898">
                <a:moveTo>
                  <a:pt x="0" y="0"/>
                </a:moveTo>
                <a:lnTo>
                  <a:pt x="6562899" y="0"/>
                </a:lnTo>
                <a:lnTo>
                  <a:pt x="6562899" y="3262185"/>
                </a:lnTo>
                <a:lnTo>
                  <a:pt x="0" y="32621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63478" y="3225172"/>
            <a:ext cx="5717454" cy="2153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320"/>
              </a:lnSpc>
            </a:pPr>
            <a:r>
              <a:rPr lang="en-US" b="true" sz="8000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¿Qué es </a:t>
            </a:r>
            <a:r>
              <a:rPr lang="en-US" b="true" sz="8000">
                <a:solidFill>
                  <a:srgbClr val="8D1F7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MCU</a:t>
            </a:r>
            <a:r>
              <a:rPr lang="en-US" b="true" sz="8000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84788" y="5576577"/>
            <a:ext cx="6354597" cy="3322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Este sistema propone extrapolar sistemas que dependen exclusivamente de la </a:t>
            </a:r>
            <a:r>
              <a:rPr lang="en-US" sz="2699" b="true">
                <a:solidFill>
                  <a:srgbClr val="387EB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ECU </a:t>
            </a:r>
            <a:r>
              <a:rPr lang="en-US" sz="2699" b="true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para ser reutilizados por un taller especializado, que consideran también sistemas de seguridad pasivos y activos.</a:t>
            </a:r>
          </a:p>
          <a:p>
            <a:pPr algn="l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412858"/>
            <a:ext cx="9470000" cy="430944"/>
          </a:xfrm>
          <a:custGeom>
            <a:avLst/>
            <a:gdLst/>
            <a:ahLst/>
            <a:cxnLst/>
            <a:rect r="r" b="b" t="t" l="l"/>
            <a:pathLst>
              <a:path h="430944" w="9470000">
                <a:moveTo>
                  <a:pt x="0" y="0"/>
                </a:moveTo>
                <a:lnTo>
                  <a:pt x="9470000" y="0"/>
                </a:lnTo>
                <a:lnTo>
                  <a:pt x="9470000" y="430944"/>
                </a:lnTo>
                <a:lnTo>
                  <a:pt x="0" y="4309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630305" y="202548"/>
            <a:ext cx="4894345" cy="9881905"/>
            <a:chOff x="0" y="0"/>
            <a:chExt cx="6525794" cy="131758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99847" y="286769"/>
              <a:ext cx="2004688" cy="1366833"/>
            </a:xfrm>
            <a:custGeom>
              <a:avLst/>
              <a:gdLst/>
              <a:ahLst/>
              <a:cxnLst/>
              <a:rect r="r" b="b" t="t" l="l"/>
              <a:pathLst>
                <a:path h="1366833" w="2004688">
                  <a:moveTo>
                    <a:pt x="0" y="0"/>
                  </a:moveTo>
                  <a:lnTo>
                    <a:pt x="2004688" y="0"/>
                  </a:lnTo>
                  <a:lnTo>
                    <a:pt x="2004688" y="1366833"/>
                  </a:lnTo>
                  <a:lnTo>
                    <a:pt x="0" y="13668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3776973" y="2199272"/>
              <a:ext cx="1827322" cy="1749661"/>
            </a:xfrm>
            <a:custGeom>
              <a:avLst/>
              <a:gdLst/>
              <a:ahLst/>
              <a:cxnLst/>
              <a:rect r="r" b="b" t="t" l="l"/>
              <a:pathLst>
                <a:path h="1749661" w="1827322">
                  <a:moveTo>
                    <a:pt x="0" y="0"/>
                  </a:moveTo>
                  <a:lnTo>
                    <a:pt x="1827321" y="0"/>
                  </a:lnTo>
                  <a:lnTo>
                    <a:pt x="1827321" y="1749661"/>
                  </a:lnTo>
                  <a:lnTo>
                    <a:pt x="0" y="1749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grpSp>
          <p:nvGrpSpPr>
            <p:cNvPr name="Group 6" id="6"/>
            <p:cNvGrpSpPr/>
            <p:nvPr/>
          </p:nvGrpSpPr>
          <p:grpSpPr>
            <a:xfrm rot="0">
              <a:off x="0" y="4761733"/>
              <a:ext cx="6525794" cy="3549179"/>
              <a:chOff x="0" y="0"/>
              <a:chExt cx="1289046" cy="701072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289046" cy="701072"/>
              </a:xfrm>
              <a:custGeom>
                <a:avLst/>
                <a:gdLst/>
                <a:ahLst/>
                <a:cxnLst/>
                <a:rect r="r" b="b" t="t" l="l"/>
                <a:pathLst>
                  <a:path h="701072" w="1289046">
                    <a:moveTo>
                      <a:pt x="644523" y="0"/>
                    </a:moveTo>
                    <a:cubicBezTo>
                      <a:pt x="288563" y="0"/>
                      <a:pt x="0" y="156940"/>
                      <a:pt x="0" y="350536"/>
                    </a:cubicBezTo>
                    <a:cubicBezTo>
                      <a:pt x="0" y="544132"/>
                      <a:pt x="288563" y="701072"/>
                      <a:pt x="644523" y="701072"/>
                    </a:cubicBezTo>
                    <a:cubicBezTo>
                      <a:pt x="1000483" y="701072"/>
                      <a:pt x="1289046" y="544132"/>
                      <a:pt x="1289046" y="350536"/>
                    </a:cubicBezTo>
                    <a:cubicBezTo>
                      <a:pt x="1289046" y="156940"/>
                      <a:pt x="1000483" y="0"/>
                      <a:pt x="644523" y="0"/>
                    </a:cubicBezTo>
                    <a:close/>
                  </a:path>
                </a:pathLst>
              </a:custGeom>
              <a:solidFill>
                <a:srgbClr val="FFCC4D"/>
              </a:solidFill>
              <a:ln w="104775" cap="sq">
                <a:solidFill>
                  <a:srgbClr val="FBCA48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120848" y="8576"/>
                <a:ext cx="1047350" cy="6267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5008313"/>
              <a:ext cx="6525794" cy="3028285"/>
              <a:chOff x="0" y="0"/>
              <a:chExt cx="1752166" cy="81309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752166" cy="813090"/>
              </a:xfrm>
              <a:custGeom>
                <a:avLst/>
                <a:gdLst/>
                <a:ahLst/>
                <a:cxnLst/>
                <a:rect r="r" b="b" t="t" l="l"/>
                <a:pathLst>
                  <a:path h="813090" w="1752166">
                    <a:moveTo>
                      <a:pt x="876083" y="0"/>
                    </a:moveTo>
                    <a:cubicBezTo>
                      <a:pt x="392236" y="0"/>
                      <a:pt x="0" y="182016"/>
                      <a:pt x="0" y="406545"/>
                    </a:cubicBezTo>
                    <a:cubicBezTo>
                      <a:pt x="0" y="631074"/>
                      <a:pt x="392236" y="813090"/>
                      <a:pt x="876083" y="813090"/>
                    </a:cubicBezTo>
                    <a:cubicBezTo>
                      <a:pt x="1359931" y="813090"/>
                      <a:pt x="1752166" y="631074"/>
                      <a:pt x="1752166" y="406545"/>
                    </a:cubicBezTo>
                    <a:cubicBezTo>
                      <a:pt x="1752166" y="182016"/>
                      <a:pt x="1359931" y="0"/>
                      <a:pt x="876083" y="0"/>
                    </a:cubicBezTo>
                    <a:close/>
                  </a:path>
                </a:pathLst>
              </a:custGeom>
              <a:solidFill>
                <a:srgbClr val="FFDC85"/>
              </a:solidFill>
              <a:ln w="104775" cap="sq">
                <a:solidFill>
                  <a:srgbClr val="FFDC85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64266" y="19077"/>
                <a:ext cx="1423635" cy="7177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015476" y="5658945"/>
              <a:ext cx="2017447" cy="1606621"/>
            </a:xfrm>
            <a:custGeom>
              <a:avLst/>
              <a:gdLst/>
              <a:ahLst/>
              <a:cxnLst/>
              <a:rect r="r" b="b" t="t" l="l"/>
              <a:pathLst>
                <a:path h="1606621" w="2017447">
                  <a:moveTo>
                    <a:pt x="0" y="0"/>
                  </a:moveTo>
                  <a:lnTo>
                    <a:pt x="2017447" y="0"/>
                  </a:lnTo>
                  <a:lnTo>
                    <a:pt x="2017447" y="1606622"/>
                  </a:lnTo>
                  <a:lnTo>
                    <a:pt x="0" y="1606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4860245" y="6075474"/>
              <a:ext cx="1102009" cy="1221986"/>
            </a:xfrm>
            <a:custGeom>
              <a:avLst/>
              <a:gdLst/>
              <a:ahLst/>
              <a:cxnLst/>
              <a:rect r="r" b="b" t="t" l="l"/>
              <a:pathLst>
                <a:path h="1221986" w="1102009">
                  <a:moveTo>
                    <a:pt x="0" y="0"/>
                  </a:moveTo>
                  <a:lnTo>
                    <a:pt x="1102009" y="0"/>
                  </a:lnTo>
                  <a:lnTo>
                    <a:pt x="1102009" y="1221986"/>
                  </a:lnTo>
                  <a:lnTo>
                    <a:pt x="0" y="1221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5663092">
              <a:off x="2672337" y="5991955"/>
              <a:ext cx="1181120" cy="940601"/>
            </a:xfrm>
            <a:custGeom>
              <a:avLst/>
              <a:gdLst/>
              <a:ahLst/>
              <a:cxnLst/>
              <a:rect r="r" b="b" t="t" l="l"/>
              <a:pathLst>
                <a:path h="940601" w="1181120">
                  <a:moveTo>
                    <a:pt x="0" y="0"/>
                  </a:moveTo>
                  <a:lnTo>
                    <a:pt x="1181120" y="0"/>
                  </a:lnTo>
                  <a:lnTo>
                    <a:pt x="1181120" y="940602"/>
                  </a:lnTo>
                  <a:lnTo>
                    <a:pt x="0" y="940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015476" y="5272231"/>
              <a:ext cx="773429" cy="773429"/>
            </a:xfrm>
            <a:custGeom>
              <a:avLst/>
              <a:gdLst/>
              <a:ahLst/>
              <a:cxnLst/>
              <a:rect r="r" b="b" t="t" l="l"/>
              <a:pathLst>
                <a:path h="773429" w="773429">
                  <a:moveTo>
                    <a:pt x="0" y="0"/>
                  </a:moveTo>
                  <a:lnTo>
                    <a:pt x="773429" y="0"/>
                  </a:lnTo>
                  <a:lnTo>
                    <a:pt x="773429" y="773429"/>
                  </a:lnTo>
                  <a:lnTo>
                    <a:pt x="0" y="773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true" rot="2774368">
              <a:off x="3198600" y="741325"/>
              <a:ext cx="2334415" cy="659472"/>
            </a:xfrm>
            <a:custGeom>
              <a:avLst/>
              <a:gdLst/>
              <a:ahLst/>
              <a:cxnLst/>
              <a:rect r="r" b="b" t="t" l="l"/>
              <a:pathLst>
                <a:path h="659472" w="2334415">
                  <a:moveTo>
                    <a:pt x="0" y="659472"/>
                  </a:moveTo>
                  <a:lnTo>
                    <a:pt x="2334415" y="659472"/>
                  </a:lnTo>
                  <a:lnTo>
                    <a:pt x="2334415" y="0"/>
                  </a:lnTo>
                  <a:lnTo>
                    <a:pt x="0" y="0"/>
                  </a:lnTo>
                  <a:lnTo>
                    <a:pt x="0" y="659472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7265476">
              <a:off x="1279748" y="3181243"/>
              <a:ext cx="1994146" cy="563346"/>
            </a:xfrm>
            <a:custGeom>
              <a:avLst/>
              <a:gdLst/>
              <a:ahLst/>
              <a:cxnLst/>
              <a:rect r="r" b="b" t="t" l="l"/>
              <a:pathLst>
                <a:path h="563346" w="1994146">
                  <a:moveTo>
                    <a:pt x="0" y="0"/>
                  </a:moveTo>
                  <a:lnTo>
                    <a:pt x="1994147" y="0"/>
                  </a:lnTo>
                  <a:lnTo>
                    <a:pt x="1994147" y="563346"/>
                  </a:lnTo>
                  <a:lnTo>
                    <a:pt x="0" y="5633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534655" y="11551667"/>
              <a:ext cx="1246008" cy="1579140"/>
            </a:xfrm>
            <a:custGeom>
              <a:avLst/>
              <a:gdLst/>
              <a:ahLst/>
              <a:cxnLst/>
              <a:rect r="r" b="b" t="t" l="l"/>
              <a:pathLst>
                <a:path h="1579140" w="1246008">
                  <a:moveTo>
                    <a:pt x="0" y="0"/>
                  </a:moveTo>
                  <a:lnTo>
                    <a:pt x="1246008" y="0"/>
                  </a:lnTo>
                  <a:lnTo>
                    <a:pt x="1246008" y="1579141"/>
                  </a:lnTo>
                  <a:lnTo>
                    <a:pt x="0" y="1579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4822415" y="11785296"/>
              <a:ext cx="1703379" cy="1390576"/>
            </a:xfrm>
            <a:custGeom>
              <a:avLst/>
              <a:gdLst/>
              <a:ahLst/>
              <a:cxnLst/>
              <a:rect r="r" b="b" t="t" l="l"/>
              <a:pathLst>
                <a:path h="1390576" w="1703379">
                  <a:moveTo>
                    <a:pt x="0" y="0"/>
                  </a:moveTo>
                  <a:lnTo>
                    <a:pt x="1703379" y="0"/>
                  </a:lnTo>
                  <a:lnTo>
                    <a:pt x="1703379" y="1390577"/>
                  </a:lnTo>
                  <a:lnTo>
                    <a:pt x="0" y="13905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-3193812">
              <a:off x="4247772" y="8861515"/>
              <a:ext cx="1512737" cy="427348"/>
            </a:xfrm>
            <a:custGeom>
              <a:avLst/>
              <a:gdLst/>
              <a:ahLst/>
              <a:cxnLst/>
              <a:rect r="r" b="b" t="t" l="l"/>
              <a:pathLst>
                <a:path h="427348" w="1512737">
                  <a:moveTo>
                    <a:pt x="0" y="0"/>
                  </a:moveTo>
                  <a:lnTo>
                    <a:pt x="1512737" y="0"/>
                  </a:lnTo>
                  <a:lnTo>
                    <a:pt x="1512737" y="427349"/>
                  </a:lnTo>
                  <a:lnTo>
                    <a:pt x="0" y="4273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370959" y="9123712"/>
              <a:ext cx="1994849" cy="1846142"/>
            </a:xfrm>
            <a:custGeom>
              <a:avLst/>
              <a:gdLst/>
              <a:ahLst/>
              <a:cxnLst/>
              <a:rect r="r" b="b" t="t" l="l"/>
              <a:pathLst>
                <a:path h="1846142" w="1994849">
                  <a:moveTo>
                    <a:pt x="0" y="0"/>
                  </a:moveTo>
                  <a:lnTo>
                    <a:pt x="1994849" y="0"/>
                  </a:lnTo>
                  <a:lnTo>
                    <a:pt x="1994849" y="1846142"/>
                  </a:lnTo>
                  <a:lnTo>
                    <a:pt x="0" y="1846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true" rot="-7505868">
              <a:off x="3400765" y="11807426"/>
              <a:ext cx="1512737" cy="427348"/>
            </a:xfrm>
            <a:custGeom>
              <a:avLst/>
              <a:gdLst/>
              <a:ahLst/>
              <a:cxnLst/>
              <a:rect r="r" b="b" t="t" l="l"/>
              <a:pathLst>
                <a:path h="427348" w="1512737">
                  <a:moveTo>
                    <a:pt x="0" y="427348"/>
                  </a:moveTo>
                  <a:lnTo>
                    <a:pt x="1512737" y="427348"/>
                  </a:lnTo>
                  <a:lnTo>
                    <a:pt x="1512737" y="0"/>
                  </a:lnTo>
                  <a:lnTo>
                    <a:pt x="0" y="0"/>
                  </a:lnTo>
                  <a:lnTo>
                    <a:pt x="0" y="427348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-3384798">
              <a:off x="1680132" y="11814026"/>
              <a:ext cx="1512737" cy="427348"/>
            </a:xfrm>
            <a:custGeom>
              <a:avLst/>
              <a:gdLst/>
              <a:ahLst/>
              <a:cxnLst/>
              <a:rect r="r" b="b" t="t" l="l"/>
              <a:pathLst>
                <a:path h="427348" w="1512737">
                  <a:moveTo>
                    <a:pt x="0" y="0"/>
                  </a:moveTo>
                  <a:lnTo>
                    <a:pt x="1512737" y="0"/>
                  </a:lnTo>
                  <a:lnTo>
                    <a:pt x="1512737" y="427348"/>
                  </a:lnTo>
                  <a:lnTo>
                    <a:pt x="0" y="427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598435" y="307323"/>
            <a:ext cx="9212267" cy="1105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320"/>
              </a:lnSpc>
            </a:pPr>
            <a:r>
              <a:rPr lang="en-US" b="true" sz="8000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Diseño conceptual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98435" y="2528359"/>
            <a:ext cx="8545565" cy="2472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3" indent="-302256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El </a:t>
            </a:r>
            <a:r>
              <a:rPr lang="en-US" b="true" sz="2799">
                <a:solidFill>
                  <a:srgbClr val="8D1F7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MCU </a:t>
            </a:r>
            <a:r>
              <a:rPr lang="en-US" b="true" sz="2799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requiere una conexión del </a:t>
            </a:r>
            <a:r>
              <a:rPr lang="en-US" b="true" sz="2799">
                <a:solidFill>
                  <a:srgbClr val="48729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auto</a:t>
            </a:r>
            <a:r>
              <a:rPr lang="en-US" b="true" sz="2799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hasta la </a:t>
            </a:r>
            <a:r>
              <a:rPr lang="en-US" b="true" sz="2799">
                <a:solidFill>
                  <a:srgbClr val="AB4C48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App</a:t>
            </a:r>
            <a:r>
              <a:rPr lang="en-US" b="true" sz="2799">
                <a:solidFill>
                  <a:srgbClr val="83808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.</a:t>
            </a:r>
            <a:r>
              <a:rPr lang="en-US" b="true" sz="2799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Para ello, se utilizará una placa de Arduino capaz de captar datos y emitir comandos previamente programados a través del </a:t>
            </a:r>
            <a:r>
              <a:rPr lang="en-US" b="true" sz="2799">
                <a:solidFill>
                  <a:srgbClr val="00979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software de Arduino</a:t>
            </a:r>
            <a:r>
              <a:rPr lang="en-US" b="true" sz="2799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98435" y="6114840"/>
            <a:ext cx="8545565" cy="2967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3" indent="-302256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Adicionalmente, el proyecto requiere una conexión con bases de datos que permitan el almacenamiento y autenticación de información para lograr el funcionamiento de los diversos módulos y funciones que el mismo ofrece.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872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93746" y="4144168"/>
            <a:ext cx="11700507" cy="1717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b="true" sz="9999">
                <a:solidFill>
                  <a:srgbClr val="FECC8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Interfaz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470079" y="8480160"/>
            <a:ext cx="7315200" cy="1343780"/>
          </a:xfrm>
          <a:custGeom>
            <a:avLst/>
            <a:gdLst/>
            <a:ahLst/>
            <a:cxnLst/>
            <a:rect r="r" b="b" t="t" l="l"/>
            <a:pathLst>
              <a:path h="1343780" w="7315200">
                <a:moveTo>
                  <a:pt x="0" y="0"/>
                </a:moveTo>
                <a:lnTo>
                  <a:pt x="7315200" y="0"/>
                </a:lnTo>
                <a:lnTo>
                  <a:pt x="7315200" y="1343779"/>
                </a:lnTo>
                <a:lnTo>
                  <a:pt x="0" y="13437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93746" y="2956719"/>
            <a:ext cx="11700507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¿Cómo 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93746" y="5690394"/>
            <a:ext cx="11700507" cy="1387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del proyecto?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150421" y="356810"/>
            <a:ext cx="7315200" cy="1343780"/>
          </a:xfrm>
          <a:custGeom>
            <a:avLst/>
            <a:gdLst/>
            <a:ahLst/>
            <a:cxnLst/>
            <a:rect r="r" b="b" t="t" l="l"/>
            <a:pathLst>
              <a:path h="1343780" w="7315200">
                <a:moveTo>
                  <a:pt x="0" y="0"/>
                </a:moveTo>
                <a:lnTo>
                  <a:pt x="7315200" y="0"/>
                </a:lnTo>
                <a:lnTo>
                  <a:pt x="7315200" y="1343780"/>
                </a:lnTo>
                <a:lnTo>
                  <a:pt x="0" y="13437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4641" y="438700"/>
            <a:ext cx="16414659" cy="9450307"/>
            <a:chOff x="0" y="0"/>
            <a:chExt cx="21886213" cy="126004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5680511" y="0"/>
              <a:ext cx="6205701" cy="12600409"/>
            </a:xfrm>
            <a:custGeom>
              <a:avLst/>
              <a:gdLst/>
              <a:ahLst/>
              <a:cxnLst/>
              <a:rect r="r" b="b" t="t" l="l"/>
              <a:pathLst>
                <a:path h="12600409" w="6205701">
                  <a:moveTo>
                    <a:pt x="0" y="0"/>
                  </a:moveTo>
                  <a:lnTo>
                    <a:pt x="6205702" y="0"/>
                  </a:lnTo>
                  <a:lnTo>
                    <a:pt x="6205702" y="12600409"/>
                  </a:lnTo>
                  <a:lnTo>
                    <a:pt x="0" y="126004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  <a:ln w="47625" cap="sq">
              <a:solidFill>
                <a:srgbClr val="000000"/>
              </a:solidFill>
              <a:prstDash val="solid"/>
              <a:miter/>
            </a:ln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3554526"/>
              <a:ext cx="12968606" cy="8204941"/>
              <a:chOff x="0" y="0"/>
              <a:chExt cx="2561700" cy="1620729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561700" cy="1620729"/>
              </a:xfrm>
              <a:custGeom>
                <a:avLst/>
                <a:gdLst/>
                <a:ahLst/>
                <a:cxnLst/>
                <a:rect r="r" b="b" t="t" l="l"/>
                <a:pathLst>
                  <a:path h="1620729" w="2561700">
                    <a:moveTo>
                      <a:pt x="40594" y="0"/>
                    </a:moveTo>
                    <a:lnTo>
                      <a:pt x="2521106" y="0"/>
                    </a:lnTo>
                    <a:cubicBezTo>
                      <a:pt x="2543525" y="0"/>
                      <a:pt x="2561700" y="18175"/>
                      <a:pt x="2561700" y="40594"/>
                    </a:cubicBezTo>
                    <a:lnTo>
                      <a:pt x="2561700" y="1580135"/>
                    </a:lnTo>
                    <a:cubicBezTo>
                      <a:pt x="2561700" y="1602554"/>
                      <a:pt x="2543525" y="1620729"/>
                      <a:pt x="2521106" y="1620729"/>
                    </a:cubicBezTo>
                    <a:lnTo>
                      <a:pt x="40594" y="1620729"/>
                    </a:lnTo>
                    <a:cubicBezTo>
                      <a:pt x="18175" y="1620729"/>
                      <a:pt x="0" y="1602554"/>
                      <a:pt x="0" y="1580135"/>
                    </a:cubicBezTo>
                    <a:lnTo>
                      <a:pt x="0" y="40594"/>
                    </a:lnTo>
                    <a:cubicBezTo>
                      <a:pt x="0" y="18175"/>
                      <a:pt x="18175" y="0"/>
                      <a:pt x="40594" y="0"/>
                    </a:cubicBezTo>
                    <a:close/>
                  </a:path>
                </a:pathLst>
              </a:custGeom>
              <a:solidFill>
                <a:srgbClr val="B4B4B4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57150"/>
                <a:ext cx="2561700" cy="16778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94463" y="4005534"/>
              <a:ext cx="11987233" cy="7236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u="sng" b="true">
                  <a:solidFill>
                    <a:srgbClr val="8D1F7A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1: Módulo de Inicio de Sesión</a:t>
              </a:r>
            </a:p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444C5C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Este módulo permite a un usuario iniciar sesión con sus credenciales a través de autenticación con </a:t>
              </a:r>
              <a:r>
                <a:rPr lang="en-US" sz="2799" b="true">
                  <a:solidFill>
                    <a:srgbClr val="E46E06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Firestore.</a:t>
              </a:r>
            </a:p>
            <a:p>
              <a:pPr algn="l">
                <a:lnSpc>
                  <a:spcPts val="3919"/>
                </a:lnSpc>
              </a:pPr>
            </a:p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444C5C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Características principales:</a:t>
              </a:r>
            </a:p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Interfaz intuitiva con validación en tiempo real</a:t>
              </a:r>
            </a:p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Opciones de recuperación de contraseña</a:t>
              </a:r>
            </a:p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Recordar sesión del usuario</a:t>
              </a:r>
            </a:p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Validación de credenciales con Firebase Authentication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44641" y="438700"/>
            <a:ext cx="16414659" cy="9502940"/>
            <a:chOff x="0" y="0"/>
            <a:chExt cx="21886213" cy="126705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5680511" y="0"/>
              <a:ext cx="6205701" cy="12670587"/>
            </a:xfrm>
            <a:custGeom>
              <a:avLst/>
              <a:gdLst/>
              <a:ahLst/>
              <a:cxnLst/>
              <a:rect r="r" b="b" t="t" l="l"/>
              <a:pathLst>
                <a:path h="12670587" w="6205701">
                  <a:moveTo>
                    <a:pt x="0" y="0"/>
                  </a:moveTo>
                  <a:lnTo>
                    <a:pt x="6205702" y="0"/>
                  </a:lnTo>
                  <a:lnTo>
                    <a:pt x="6205702" y="12670587"/>
                  </a:lnTo>
                  <a:lnTo>
                    <a:pt x="0" y="12670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16" t="0" r="-916" b="0"/>
              </a:stretch>
            </a:blipFill>
            <a:ln w="47625" cap="sq">
              <a:solidFill>
                <a:srgbClr val="000000"/>
              </a:solidFill>
              <a:prstDash val="solid"/>
              <a:miter/>
            </a:ln>
          </p:spPr>
        </p:sp>
        <p:grpSp>
          <p:nvGrpSpPr>
            <p:cNvPr name="Group 10" id="10"/>
            <p:cNvGrpSpPr/>
            <p:nvPr/>
          </p:nvGrpSpPr>
          <p:grpSpPr>
            <a:xfrm rot="0">
              <a:off x="0" y="3539353"/>
              <a:ext cx="12968606" cy="8204941"/>
              <a:chOff x="0" y="0"/>
              <a:chExt cx="2355514" cy="149028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355514" cy="1490280"/>
              </a:xfrm>
              <a:custGeom>
                <a:avLst/>
                <a:gdLst/>
                <a:ahLst/>
                <a:cxnLst/>
                <a:rect r="r" b="b" t="t" l="l"/>
                <a:pathLst>
                  <a:path h="1490280" w="2355514">
                    <a:moveTo>
                      <a:pt x="44148" y="0"/>
                    </a:moveTo>
                    <a:lnTo>
                      <a:pt x="2311366" y="0"/>
                    </a:lnTo>
                    <a:cubicBezTo>
                      <a:pt x="2335748" y="0"/>
                      <a:pt x="2355514" y="19766"/>
                      <a:pt x="2355514" y="44148"/>
                    </a:cubicBezTo>
                    <a:lnTo>
                      <a:pt x="2355514" y="1446132"/>
                    </a:lnTo>
                    <a:cubicBezTo>
                      <a:pt x="2355514" y="1457841"/>
                      <a:pt x="2350862" y="1469070"/>
                      <a:pt x="2342583" y="1477349"/>
                    </a:cubicBezTo>
                    <a:cubicBezTo>
                      <a:pt x="2334304" y="1485629"/>
                      <a:pt x="2323075" y="1490280"/>
                      <a:pt x="2311366" y="1490280"/>
                    </a:cubicBezTo>
                    <a:lnTo>
                      <a:pt x="44148" y="1490280"/>
                    </a:lnTo>
                    <a:cubicBezTo>
                      <a:pt x="32439" y="1490280"/>
                      <a:pt x="21210" y="1485629"/>
                      <a:pt x="12931" y="1477349"/>
                    </a:cubicBezTo>
                    <a:cubicBezTo>
                      <a:pt x="4651" y="1469070"/>
                      <a:pt x="0" y="1457841"/>
                      <a:pt x="0" y="1446132"/>
                    </a:cubicBezTo>
                    <a:lnTo>
                      <a:pt x="0" y="44148"/>
                    </a:lnTo>
                    <a:cubicBezTo>
                      <a:pt x="0" y="19766"/>
                      <a:pt x="19766" y="0"/>
                      <a:pt x="44148" y="0"/>
                    </a:cubicBezTo>
                    <a:close/>
                  </a:path>
                </a:pathLst>
              </a:custGeom>
              <a:solidFill>
                <a:srgbClr val="E1B16A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2355514" cy="15379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694463" y="4035676"/>
              <a:ext cx="11987233" cy="714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63"/>
                </a:lnSpc>
              </a:pPr>
              <a:r>
                <a:rPr lang="en-US" sz="3045" u="sng" b="true">
                  <a:solidFill>
                    <a:srgbClr val="8D1F7A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2: Módulo de Registro</a:t>
              </a:r>
            </a:p>
            <a:p>
              <a:pPr algn="l">
                <a:lnSpc>
                  <a:spcPts val="4263"/>
                </a:lnSpc>
              </a:pPr>
              <a:r>
                <a:rPr lang="en-US" sz="3045" b="true">
                  <a:solidFill>
                    <a:srgbClr val="444445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Este módulo permite la creación de nuevas cuentas de usuario con validación integral de datos.</a:t>
              </a:r>
            </a:p>
            <a:p>
              <a:pPr algn="l">
                <a:lnSpc>
                  <a:spcPts val="4263"/>
                </a:lnSpc>
              </a:pPr>
            </a:p>
            <a:p>
              <a:pPr algn="l">
                <a:lnSpc>
                  <a:spcPts val="4263"/>
                </a:lnSpc>
              </a:pPr>
              <a:r>
                <a:rPr lang="en-US" sz="3045" b="true">
                  <a:solidFill>
                    <a:srgbClr val="444445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Características principales:</a:t>
              </a:r>
            </a:p>
            <a:p>
              <a:pPr algn="l" marL="657428" indent="-328714" lvl="1">
                <a:lnSpc>
                  <a:spcPts val="4263"/>
                </a:lnSpc>
                <a:buFont typeface="Arial"/>
                <a:buChar char="•"/>
              </a:pPr>
              <a:r>
                <a:rPr lang="en-US" sz="3045">
                  <a:solidFill>
                    <a:srgbClr val="444445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Fo</a:t>
              </a:r>
              <a:r>
                <a:rPr lang="en-US" sz="3045">
                  <a:solidFill>
                    <a:srgbClr val="444445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rmulario con validación progresiva de campos</a:t>
              </a:r>
            </a:p>
            <a:p>
              <a:pPr algn="l" marL="657428" indent="-328714" lvl="1">
                <a:lnSpc>
                  <a:spcPts val="4263"/>
                </a:lnSpc>
                <a:buFont typeface="Arial"/>
                <a:buChar char="•"/>
              </a:pPr>
              <a:r>
                <a:rPr lang="en-US" sz="3045">
                  <a:solidFill>
                    <a:srgbClr val="444445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Verificación de fortaleza de contraseña</a:t>
              </a:r>
            </a:p>
            <a:p>
              <a:pPr algn="l" marL="657428" indent="-328714" lvl="1">
                <a:lnSpc>
                  <a:spcPts val="4263"/>
                </a:lnSpc>
                <a:buFont typeface="Arial"/>
                <a:buChar char="•"/>
              </a:pPr>
              <a:r>
                <a:rPr lang="en-US" sz="3045">
                  <a:solidFill>
                    <a:srgbClr val="444445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Confirmación de términos y condiciones</a:t>
              </a:r>
            </a:p>
            <a:p>
              <a:pPr algn="l" marL="657428" indent="-328714" lvl="1">
                <a:lnSpc>
                  <a:spcPts val="4263"/>
                </a:lnSpc>
                <a:buFont typeface="Arial"/>
                <a:buChar char="•"/>
              </a:pPr>
              <a:r>
                <a:rPr lang="en-US" sz="3045">
                  <a:solidFill>
                    <a:srgbClr val="444445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Validación de formato de email único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48915" y="410769"/>
            <a:ext cx="16410385" cy="9465462"/>
            <a:chOff x="0" y="0"/>
            <a:chExt cx="21880513" cy="126206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5680511" y="0"/>
              <a:ext cx="6200002" cy="12620616"/>
            </a:xfrm>
            <a:custGeom>
              <a:avLst/>
              <a:gdLst/>
              <a:ahLst/>
              <a:cxnLst/>
              <a:rect r="r" b="b" t="t" l="l"/>
              <a:pathLst>
                <a:path h="12620616" w="6200002">
                  <a:moveTo>
                    <a:pt x="0" y="0"/>
                  </a:moveTo>
                  <a:lnTo>
                    <a:pt x="6200002" y="0"/>
                  </a:lnTo>
                  <a:lnTo>
                    <a:pt x="6200002" y="12620616"/>
                  </a:lnTo>
                  <a:lnTo>
                    <a:pt x="0" y="12620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997" t="-1610" r="0" b="-649"/>
              </a:stretch>
            </a:blip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 rot="0">
              <a:off x="694463" y="3742701"/>
              <a:ext cx="11987233" cy="7236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u="sng" b="true">
                  <a:solidFill>
                    <a:srgbClr val="8D1F7A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1: Módulo de Inicio de Sesión</a:t>
              </a:r>
            </a:p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444C5C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Este módulo permite a un usuario iniciar sesión con sus credenciales a través de autenticación con </a:t>
              </a:r>
              <a:r>
                <a:rPr lang="en-US" sz="2799" b="true">
                  <a:solidFill>
                    <a:srgbClr val="E46E06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Firestore.</a:t>
              </a:r>
            </a:p>
            <a:p>
              <a:pPr algn="l">
                <a:lnSpc>
                  <a:spcPts val="3919"/>
                </a:lnSpc>
              </a:pPr>
            </a:p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444C5C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Características principales:</a:t>
              </a:r>
            </a:p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Interfaz intuitiva con validación en tiempo real</a:t>
              </a:r>
            </a:p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Opciones de recuperación de contraseña</a:t>
              </a:r>
            </a:p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Recordar sesión del usuario</a:t>
              </a:r>
            </a:p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Validación de credenciales con Firebase Authentication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694463" y="3788016"/>
              <a:ext cx="11987233" cy="714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63"/>
                </a:lnSpc>
              </a:pPr>
              <a:r>
                <a:rPr lang="en-US" sz="3045" u="sng" b="true">
                  <a:solidFill>
                    <a:srgbClr val="8D1F7A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2: Módulo de Registro</a:t>
              </a:r>
            </a:p>
            <a:p>
              <a:pPr algn="l">
                <a:lnSpc>
                  <a:spcPts val="4263"/>
                </a:lnSpc>
              </a:pPr>
              <a:r>
                <a:rPr lang="en-US" sz="3045" b="true">
                  <a:solidFill>
                    <a:srgbClr val="444445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Este módulo permite la creación de nuevas cuentas de usuario con validación integral de datos.</a:t>
              </a:r>
            </a:p>
            <a:p>
              <a:pPr algn="l">
                <a:lnSpc>
                  <a:spcPts val="4263"/>
                </a:lnSpc>
              </a:pPr>
            </a:p>
            <a:p>
              <a:pPr algn="l">
                <a:lnSpc>
                  <a:spcPts val="4263"/>
                </a:lnSpc>
              </a:pPr>
              <a:r>
                <a:rPr lang="en-US" sz="3045" b="true">
                  <a:solidFill>
                    <a:srgbClr val="444445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Características principales:</a:t>
              </a:r>
            </a:p>
            <a:p>
              <a:pPr algn="l" marL="657428" indent="-328714" lvl="1">
                <a:lnSpc>
                  <a:spcPts val="4263"/>
                </a:lnSpc>
                <a:buFont typeface="Arial"/>
                <a:buChar char="•"/>
              </a:pPr>
              <a:r>
                <a:rPr lang="en-US" sz="3045">
                  <a:solidFill>
                    <a:srgbClr val="444445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Fo</a:t>
              </a:r>
              <a:r>
                <a:rPr lang="en-US" sz="3045">
                  <a:solidFill>
                    <a:srgbClr val="444445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rmulario con validación progresiva de campos</a:t>
              </a:r>
            </a:p>
            <a:p>
              <a:pPr algn="l" marL="657428" indent="-328714" lvl="1">
                <a:lnSpc>
                  <a:spcPts val="4263"/>
                </a:lnSpc>
                <a:buFont typeface="Arial"/>
                <a:buChar char="•"/>
              </a:pPr>
              <a:r>
                <a:rPr lang="en-US" sz="3045">
                  <a:solidFill>
                    <a:srgbClr val="444445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Verificación de fortaleza de contraseña</a:t>
              </a:r>
            </a:p>
            <a:p>
              <a:pPr algn="l" marL="657428" indent="-328714" lvl="1">
                <a:lnSpc>
                  <a:spcPts val="4263"/>
                </a:lnSpc>
                <a:buFont typeface="Arial"/>
                <a:buChar char="•"/>
              </a:pPr>
              <a:r>
                <a:rPr lang="en-US" sz="3045">
                  <a:solidFill>
                    <a:srgbClr val="444445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Confirmación de términos y condiciones</a:t>
              </a:r>
            </a:p>
            <a:p>
              <a:pPr algn="l" marL="657428" indent="-328714" lvl="1">
                <a:lnSpc>
                  <a:spcPts val="4263"/>
                </a:lnSpc>
                <a:buFont typeface="Arial"/>
                <a:buChar char="•"/>
              </a:pPr>
              <a:r>
                <a:rPr lang="en-US" sz="3045">
                  <a:solidFill>
                    <a:srgbClr val="444445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Validación de formato de email único</a:t>
              </a: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0" y="3539353"/>
              <a:ext cx="12968606" cy="8204941"/>
              <a:chOff x="0" y="0"/>
              <a:chExt cx="2561700" cy="1620729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561700" cy="1620729"/>
              </a:xfrm>
              <a:custGeom>
                <a:avLst/>
                <a:gdLst/>
                <a:ahLst/>
                <a:cxnLst/>
                <a:rect r="r" b="b" t="t" l="l"/>
                <a:pathLst>
                  <a:path h="1620729" w="2561700">
                    <a:moveTo>
                      <a:pt x="40594" y="0"/>
                    </a:moveTo>
                    <a:lnTo>
                      <a:pt x="2521106" y="0"/>
                    </a:lnTo>
                    <a:cubicBezTo>
                      <a:pt x="2543525" y="0"/>
                      <a:pt x="2561700" y="18175"/>
                      <a:pt x="2561700" y="40594"/>
                    </a:cubicBezTo>
                    <a:lnTo>
                      <a:pt x="2561700" y="1580135"/>
                    </a:lnTo>
                    <a:cubicBezTo>
                      <a:pt x="2561700" y="1602554"/>
                      <a:pt x="2543525" y="1620729"/>
                      <a:pt x="2521106" y="1620729"/>
                    </a:cubicBezTo>
                    <a:lnTo>
                      <a:pt x="40594" y="1620729"/>
                    </a:lnTo>
                    <a:cubicBezTo>
                      <a:pt x="18175" y="1620729"/>
                      <a:pt x="0" y="1602554"/>
                      <a:pt x="0" y="1580135"/>
                    </a:cubicBezTo>
                    <a:lnTo>
                      <a:pt x="0" y="40594"/>
                    </a:lnTo>
                    <a:cubicBezTo>
                      <a:pt x="0" y="18175"/>
                      <a:pt x="18175" y="0"/>
                      <a:pt x="40594" y="0"/>
                    </a:cubicBezTo>
                    <a:close/>
                  </a:path>
                </a:pathLst>
              </a:custGeom>
              <a:solidFill>
                <a:srgbClr val="AAE189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57150"/>
                <a:ext cx="2561700" cy="16778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694463" y="3990361"/>
              <a:ext cx="11987233" cy="7236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u="sng" b="true">
                  <a:solidFill>
                    <a:srgbClr val="8D1F7A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3: Módulo Menú Principal</a:t>
              </a:r>
            </a:p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444C5C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Este módulo sirve como centro de control para ejecutar comandos en el vehículo mediante </a:t>
              </a:r>
              <a:r>
                <a:rPr lang="en-US" sz="2799" b="true">
                  <a:solidFill>
                    <a:srgbClr val="00979C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Arduino</a:t>
              </a:r>
              <a:r>
                <a:rPr lang="en-US" sz="2799" b="true">
                  <a:solidFill>
                    <a:srgbClr val="444C5C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.</a:t>
              </a:r>
            </a:p>
            <a:p>
              <a:pPr algn="l">
                <a:lnSpc>
                  <a:spcPts val="3919"/>
                </a:lnSpc>
              </a:pPr>
            </a:p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444C5C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Características principales:</a:t>
              </a:r>
            </a:p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</a:t>
              </a: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ashboard con botones de control táctiles</a:t>
              </a:r>
            </a:p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Indicadores visuales de estado de dispositivos</a:t>
              </a:r>
            </a:p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Ejecución de comandos en tiempo real (luces, radio, climatización)</a:t>
              </a:r>
            </a:p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Feedback inmediato de confirmación de acciones</a:t>
              </a:r>
            </a:p>
            <a:p>
              <a:pPr algn="l">
                <a:lnSpc>
                  <a:spcPts val="391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844641" y="528320"/>
            <a:ext cx="9726455" cy="1105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320"/>
              </a:lnSpc>
              <a:spcBef>
                <a:spcPct val="0"/>
              </a:spcBef>
            </a:pPr>
            <a:r>
              <a:rPr lang="en-US" b="true" sz="8000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Diseño de la </a:t>
            </a:r>
            <a:r>
              <a:rPr lang="en-US" b="true" sz="8000">
                <a:solidFill>
                  <a:srgbClr val="B52E3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App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44641" y="1474165"/>
            <a:ext cx="8545565" cy="490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Funcionalidades actuales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41754" y="423545"/>
            <a:ext cx="16413271" cy="9506362"/>
            <a:chOff x="0" y="0"/>
            <a:chExt cx="21884362" cy="126751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5682362" y="0"/>
              <a:ext cx="6202000" cy="12675150"/>
            </a:xfrm>
            <a:custGeom>
              <a:avLst/>
              <a:gdLst/>
              <a:ahLst/>
              <a:cxnLst/>
              <a:rect r="r" b="b" t="t" l="l"/>
              <a:pathLst>
                <a:path h="12675150" w="6202000">
                  <a:moveTo>
                    <a:pt x="0" y="0"/>
                  </a:moveTo>
                  <a:lnTo>
                    <a:pt x="6202000" y="0"/>
                  </a:lnTo>
                  <a:lnTo>
                    <a:pt x="6202000" y="12675150"/>
                  </a:lnTo>
                  <a:lnTo>
                    <a:pt x="0" y="12675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281" t="-2528" r="0" b="-6565"/>
              </a:stretch>
            </a:blip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 rot="0">
              <a:off x="694463" y="3549617"/>
              <a:ext cx="11987233" cy="7236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u="sng" b="true">
                  <a:solidFill>
                    <a:srgbClr val="8D1F7A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1: Módulo de Inicio de Sesión</a:t>
              </a:r>
            </a:p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444C5C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Este módulo permite a un usuario iniciar sesión con sus credenciales a través de autenticación con </a:t>
              </a:r>
              <a:r>
                <a:rPr lang="en-US" sz="2799" b="true">
                  <a:solidFill>
                    <a:srgbClr val="E46E06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Firestore.</a:t>
              </a:r>
            </a:p>
            <a:p>
              <a:pPr algn="l">
                <a:lnSpc>
                  <a:spcPts val="3919"/>
                </a:lnSpc>
              </a:pPr>
            </a:p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444C5C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Características principales:</a:t>
              </a:r>
            </a:p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Interfaz intuitiva con validación en tiempo real</a:t>
              </a:r>
            </a:p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Opciones de recuperación de contraseña</a:t>
              </a:r>
            </a:p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Recordar sesión del usuario</a:t>
              </a:r>
            </a:p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Validación de credenciales con Firebase Authentication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694463" y="3594932"/>
              <a:ext cx="11987233" cy="714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63"/>
                </a:lnSpc>
              </a:pPr>
              <a:r>
                <a:rPr lang="en-US" sz="3045" u="sng" b="true">
                  <a:solidFill>
                    <a:srgbClr val="8D1F7A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2: Módulo de Registro</a:t>
              </a:r>
            </a:p>
            <a:p>
              <a:pPr algn="l">
                <a:lnSpc>
                  <a:spcPts val="4263"/>
                </a:lnSpc>
              </a:pPr>
              <a:r>
                <a:rPr lang="en-US" sz="3045" b="true">
                  <a:solidFill>
                    <a:srgbClr val="444445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Este módulo permite la creación de nuevas cuentas de usuario con validación integral de datos.</a:t>
              </a:r>
            </a:p>
            <a:p>
              <a:pPr algn="l">
                <a:lnSpc>
                  <a:spcPts val="4263"/>
                </a:lnSpc>
              </a:pPr>
            </a:p>
            <a:p>
              <a:pPr algn="l">
                <a:lnSpc>
                  <a:spcPts val="4263"/>
                </a:lnSpc>
              </a:pPr>
              <a:r>
                <a:rPr lang="en-US" sz="3045" b="true">
                  <a:solidFill>
                    <a:srgbClr val="444445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Características principales:</a:t>
              </a:r>
            </a:p>
            <a:p>
              <a:pPr algn="l" marL="657428" indent="-328714" lvl="1">
                <a:lnSpc>
                  <a:spcPts val="4263"/>
                </a:lnSpc>
                <a:buFont typeface="Arial"/>
                <a:buChar char="•"/>
              </a:pPr>
              <a:r>
                <a:rPr lang="en-US" sz="3045">
                  <a:solidFill>
                    <a:srgbClr val="444445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Fo</a:t>
              </a:r>
              <a:r>
                <a:rPr lang="en-US" sz="3045">
                  <a:solidFill>
                    <a:srgbClr val="444445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rmulario con validación progresiva de campos</a:t>
              </a:r>
            </a:p>
            <a:p>
              <a:pPr algn="l" marL="657428" indent="-328714" lvl="1">
                <a:lnSpc>
                  <a:spcPts val="4263"/>
                </a:lnSpc>
                <a:buFont typeface="Arial"/>
                <a:buChar char="•"/>
              </a:pPr>
              <a:r>
                <a:rPr lang="en-US" sz="3045">
                  <a:solidFill>
                    <a:srgbClr val="444445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Verificación de fortaleza de contraseña</a:t>
              </a:r>
            </a:p>
            <a:p>
              <a:pPr algn="l" marL="657428" indent="-328714" lvl="1">
                <a:lnSpc>
                  <a:spcPts val="4263"/>
                </a:lnSpc>
                <a:buFont typeface="Arial"/>
                <a:buChar char="•"/>
              </a:pPr>
              <a:r>
                <a:rPr lang="en-US" sz="3045">
                  <a:solidFill>
                    <a:srgbClr val="444445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Confirmación de términos y condiciones</a:t>
              </a:r>
            </a:p>
            <a:p>
              <a:pPr algn="l" marL="657428" indent="-328714" lvl="1">
                <a:lnSpc>
                  <a:spcPts val="4263"/>
                </a:lnSpc>
                <a:buFont typeface="Arial"/>
                <a:buChar char="•"/>
              </a:pPr>
              <a:r>
                <a:rPr lang="en-US" sz="3045">
                  <a:solidFill>
                    <a:srgbClr val="444445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Validación de formato de email único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694463" y="3549617"/>
              <a:ext cx="11987233" cy="7236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u="sng" b="true">
                  <a:solidFill>
                    <a:srgbClr val="8D1F7A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3: Módulo Menú Principal</a:t>
              </a:r>
            </a:p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444C5C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Este módulo sirve como centro de control para ejecutar comandos en el vehículo mediante </a:t>
              </a:r>
              <a:r>
                <a:rPr lang="en-US" sz="2799" b="true">
                  <a:solidFill>
                    <a:srgbClr val="00979C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Arduino</a:t>
              </a:r>
              <a:r>
                <a:rPr lang="en-US" sz="2799" b="true">
                  <a:solidFill>
                    <a:srgbClr val="444C5C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.</a:t>
              </a:r>
            </a:p>
            <a:p>
              <a:pPr algn="l">
                <a:lnSpc>
                  <a:spcPts val="3919"/>
                </a:lnSpc>
              </a:pPr>
            </a:p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444C5C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Características principales:</a:t>
              </a:r>
            </a:p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</a:t>
              </a: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ashboard con botones de control táctiles</a:t>
              </a:r>
            </a:p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Indicadores visuales de estado de dispositivos</a:t>
              </a:r>
            </a:p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Ejecución de comandos en tiempo real (luces, radio, climatización)</a:t>
              </a:r>
            </a:p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Feedback inmediato de confirmación de acciones</a:t>
              </a:r>
            </a:p>
            <a:p>
              <a:pPr algn="l">
                <a:lnSpc>
                  <a:spcPts val="3919"/>
                </a:lnSpc>
              </a:pPr>
            </a:p>
          </p:txBody>
        </p:sp>
        <p:grpSp>
          <p:nvGrpSpPr>
            <p:cNvPr name="Group 29" id="29"/>
            <p:cNvGrpSpPr/>
            <p:nvPr/>
          </p:nvGrpSpPr>
          <p:grpSpPr>
            <a:xfrm rot="0">
              <a:off x="0" y="3558549"/>
              <a:ext cx="12968606" cy="8204941"/>
              <a:chOff x="0" y="0"/>
              <a:chExt cx="2561700" cy="1620729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561700" cy="1620729"/>
              </a:xfrm>
              <a:custGeom>
                <a:avLst/>
                <a:gdLst/>
                <a:ahLst/>
                <a:cxnLst/>
                <a:rect r="r" b="b" t="t" l="l"/>
                <a:pathLst>
                  <a:path h="1620729" w="2561700">
                    <a:moveTo>
                      <a:pt x="40594" y="0"/>
                    </a:moveTo>
                    <a:lnTo>
                      <a:pt x="2521106" y="0"/>
                    </a:lnTo>
                    <a:cubicBezTo>
                      <a:pt x="2543525" y="0"/>
                      <a:pt x="2561700" y="18175"/>
                      <a:pt x="2561700" y="40594"/>
                    </a:cubicBezTo>
                    <a:lnTo>
                      <a:pt x="2561700" y="1580135"/>
                    </a:lnTo>
                    <a:cubicBezTo>
                      <a:pt x="2561700" y="1602554"/>
                      <a:pt x="2543525" y="1620729"/>
                      <a:pt x="2521106" y="1620729"/>
                    </a:cubicBezTo>
                    <a:lnTo>
                      <a:pt x="40594" y="1620729"/>
                    </a:lnTo>
                    <a:cubicBezTo>
                      <a:pt x="18175" y="1620729"/>
                      <a:pt x="0" y="1602554"/>
                      <a:pt x="0" y="1580135"/>
                    </a:cubicBezTo>
                    <a:lnTo>
                      <a:pt x="0" y="40594"/>
                    </a:lnTo>
                    <a:cubicBezTo>
                      <a:pt x="0" y="18175"/>
                      <a:pt x="18175" y="0"/>
                      <a:pt x="40594" y="0"/>
                    </a:cubicBezTo>
                    <a:close/>
                  </a:path>
                </a:pathLst>
              </a:custGeom>
              <a:solidFill>
                <a:srgbClr val="FFDC85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47625"/>
                <a:ext cx="2561700" cy="16683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694463" y="4009557"/>
              <a:ext cx="11987233" cy="7236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u="sng" b="true">
                  <a:solidFill>
                    <a:srgbClr val="8D1F7A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4: Módulo de Notificaciones</a:t>
              </a:r>
            </a:p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444C5C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Este módulo gestiona el sistema de alertas y notificaciones push para eventos importantes del vehículo.</a:t>
              </a:r>
            </a:p>
            <a:p>
              <a:pPr algn="l">
                <a:lnSpc>
                  <a:spcPts val="3919"/>
                </a:lnSpc>
              </a:pPr>
            </a:p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444C5C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Características principales:</a:t>
              </a:r>
            </a:p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Notific</a:t>
              </a: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aciones push en tiempo real para eventos críticos</a:t>
              </a:r>
            </a:p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Sistema de categorización por prioridad (crítico, advertencia, informativo)</a:t>
              </a:r>
            </a:p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Historial navegable de todas las notificaciones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41754" y="373291"/>
            <a:ext cx="16414659" cy="9502940"/>
            <a:chOff x="0" y="0"/>
            <a:chExt cx="21886213" cy="1267058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5668521" y="0"/>
              <a:ext cx="6217691" cy="12670587"/>
            </a:xfrm>
            <a:custGeom>
              <a:avLst/>
              <a:gdLst/>
              <a:ahLst/>
              <a:cxnLst/>
              <a:rect r="r" b="b" t="t" l="l"/>
              <a:pathLst>
                <a:path h="12670587" w="6217691">
                  <a:moveTo>
                    <a:pt x="0" y="0"/>
                  </a:moveTo>
                  <a:lnTo>
                    <a:pt x="6217692" y="0"/>
                  </a:lnTo>
                  <a:lnTo>
                    <a:pt x="6217692" y="12670587"/>
                  </a:lnTo>
                  <a:lnTo>
                    <a:pt x="0" y="126705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707" t="-824" r="0" b="-2081"/>
              </a:stretch>
            </a:blip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 rot="0">
              <a:off x="694463" y="3778081"/>
              <a:ext cx="11987233" cy="7236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u="sng" b="true">
                  <a:solidFill>
                    <a:srgbClr val="8D1F7A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1: Módulo de Inicio de Sesión</a:t>
              </a:r>
            </a:p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444C5C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Este módulo permite a un usuario iniciar sesión con sus credenciales a través de autenticación con </a:t>
              </a:r>
              <a:r>
                <a:rPr lang="en-US" sz="2799" b="true">
                  <a:solidFill>
                    <a:srgbClr val="E46E06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Firestore.</a:t>
              </a:r>
            </a:p>
            <a:p>
              <a:pPr algn="l">
                <a:lnSpc>
                  <a:spcPts val="3919"/>
                </a:lnSpc>
              </a:pPr>
            </a:p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444C5C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Características principales:</a:t>
              </a:r>
            </a:p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Interfaz intuitiva con validación en tiempo real</a:t>
              </a:r>
            </a:p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Opciones de recuperación de contraseña</a:t>
              </a:r>
            </a:p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Recordar sesión del usuario</a:t>
              </a:r>
            </a:p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Validación de credenciales con Firebase Authentication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694463" y="3823396"/>
              <a:ext cx="11987233" cy="714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63"/>
                </a:lnSpc>
              </a:pPr>
              <a:r>
                <a:rPr lang="en-US" sz="3045" u="sng" b="true">
                  <a:solidFill>
                    <a:srgbClr val="8D1F7A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2: Módulo de Registro</a:t>
              </a:r>
            </a:p>
            <a:p>
              <a:pPr algn="l">
                <a:lnSpc>
                  <a:spcPts val="4263"/>
                </a:lnSpc>
              </a:pPr>
              <a:r>
                <a:rPr lang="en-US" sz="3045" b="true">
                  <a:solidFill>
                    <a:srgbClr val="444445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Este módulo permite la creación de nuevas cuentas de usuario con validación integral de datos.</a:t>
              </a:r>
            </a:p>
            <a:p>
              <a:pPr algn="l">
                <a:lnSpc>
                  <a:spcPts val="4263"/>
                </a:lnSpc>
              </a:pPr>
            </a:p>
            <a:p>
              <a:pPr algn="l">
                <a:lnSpc>
                  <a:spcPts val="4263"/>
                </a:lnSpc>
              </a:pPr>
              <a:r>
                <a:rPr lang="en-US" sz="3045" b="true">
                  <a:solidFill>
                    <a:srgbClr val="444445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Características principales:</a:t>
              </a:r>
            </a:p>
            <a:p>
              <a:pPr algn="l" marL="657428" indent="-328714" lvl="1">
                <a:lnSpc>
                  <a:spcPts val="4263"/>
                </a:lnSpc>
                <a:buFont typeface="Arial"/>
                <a:buChar char="•"/>
              </a:pPr>
              <a:r>
                <a:rPr lang="en-US" sz="3045">
                  <a:solidFill>
                    <a:srgbClr val="444445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Fo</a:t>
              </a:r>
              <a:r>
                <a:rPr lang="en-US" sz="3045">
                  <a:solidFill>
                    <a:srgbClr val="444445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rmulario con validación progresiva de campos</a:t>
              </a:r>
            </a:p>
            <a:p>
              <a:pPr algn="l" marL="657428" indent="-328714" lvl="1">
                <a:lnSpc>
                  <a:spcPts val="4263"/>
                </a:lnSpc>
                <a:buFont typeface="Arial"/>
                <a:buChar char="•"/>
              </a:pPr>
              <a:r>
                <a:rPr lang="en-US" sz="3045">
                  <a:solidFill>
                    <a:srgbClr val="444445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Verificación de fortaleza de contraseña</a:t>
              </a:r>
            </a:p>
            <a:p>
              <a:pPr algn="l" marL="657428" indent="-328714" lvl="1">
                <a:lnSpc>
                  <a:spcPts val="4263"/>
                </a:lnSpc>
                <a:buFont typeface="Arial"/>
                <a:buChar char="•"/>
              </a:pPr>
              <a:r>
                <a:rPr lang="en-US" sz="3045">
                  <a:solidFill>
                    <a:srgbClr val="444445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Confirmación de términos y condiciones</a:t>
              </a:r>
            </a:p>
            <a:p>
              <a:pPr algn="l" marL="657428" indent="-328714" lvl="1">
                <a:lnSpc>
                  <a:spcPts val="4263"/>
                </a:lnSpc>
                <a:buFont typeface="Arial"/>
                <a:buChar char="•"/>
              </a:pPr>
              <a:r>
                <a:rPr lang="en-US" sz="3045">
                  <a:solidFill>
                    <a:srgbClr val="444445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Validación de formato de email único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694463" y="3778081"/>
              <a:ext cx="11987233" cy="7236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u="sng" b="true">
                  <a:solidFill>
                    <a:srgbClr val="8D1F7A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3: Módulo Menú Principal</a:t>
              </a:r>
            </a:p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444C5C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Este módulo sirve como centro de control para ejecutar comandos en el vehículo mediante </a:t>
              </a:r>
              <a:r>
                <a:rPr lang="en-US" sz="2799" b="true">
                  <a:solidFill>
                    <a:srgbClr val="00979C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Arduino</a:t>
              </a:r>
              <a:r>
                <a:rPr lang="en-US" sz="2799" b="true">
                  <a:solidFill>
                    <a:srgbClr val="444C5C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.</a:t>
              </a:r>
            </a:p>
            <a:p>
              <a:pPr algn="l">
                <a:lnSpc>
                  <a:spcPts val="3919"/>
                </a:lnSpc>
              </a:pPr>
            </a:p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444C5C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Características principales:</a:t>
              </a:r>
            </a:p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</a:t>
              </a: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ashboard con botones de control táctiles</a:t>
              </a:r>
            </a:p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Indicadores visuales de estado de dispositivos</a:t>
              </a:r>
            </a:p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Ejecución de comandos en tiempo real (luces, radio, climatización)</a:t>
              </a:r>
            </a:p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Feedback inmediato de confirmación de acciones</a:t>
              </a:r>
            </a:p>
            <a:p>
              <a:pPr algn="l">
                <a:lnSpc>
                  <a:spcPts val="3919"/>
                </a:lnSpc>
              </a:pP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694463" y="3778081"/>
              <a:ext cx="11987233" cy="7236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u="sng" b="true">
                  <a:solidFill>
                    <a:srgbClr val="8D1F7A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4: Módulo de Notificaciones</a:t>
              </a:r>
            </a:p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444C5C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Este módulo gestiona el sistema de alertas y notificaciones push para eventos importantes del vehículo.</a:t>
              </a:r>
            </a:p>
            <a:p>
              <a:pPr algn="l">
                <a:lnSpc>
                  <a:spcPts val="3919"/>
                </a:lnSpc>
              </a:pPr>
            </a:p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444C5C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Características principales:</a:t>
              </a:r>
            </a:p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Notific</a:t>
              </a: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aciones push en tiempo real para eventos críticos</a:t>
              </a:r>
            </a:p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Sistema de categorización por prioridad (crítico, advertencia, informativo)</a:t>
              </a:r>
            </a:p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Historial navegable de todas las notificaciones</a:t>
              </a:r>
            </a:p>
          </p:txBody>
        </p:sp>
        <p:grpSp>
          <p:nvGrpSpPr>
            <p:cNvPr name="Group 39" id="39"/>
            <p:cNvGrpSpPr/>
            <p:nvPr/>
          </p:nvGrpSpPr>
          <p:grpSpPr>
            <a:xfrm rot="0">
              <a:off x="0" y="3610113"/>
              <a:ext cx="12968606" cy="8204941"/>
              <a:chOff x="0" y="0"/>
              <a:chExt cx="2561700" cy="1620729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2561700" cy="1620729"/>
              </a:xfrm>
              <a:custGeom>
                <a:avLst/>
                <a:gdLst/>
                <a:ahLst/>
                <a:cxnLst/>
                <a:rect r="r" b="b" t="t" l="l"/>
                <a:pathLst>
                  <a:path h="1620729" w="2561700">
                    <a:moveTo>
                      <a:pt x="40594" y="0"/>
                    </a:moveTo>
                    <a:lnTo>
                      <a:pt x="2521106" y="0"/>
                    </a:lnTo>
                    <a:cubicBezTo>
                      <a:pt x="2543525" y="0"/>
                      <a:pt x="2561700" y="18175"/>
                      <a:pt x="2561700" y="40594"/>
                    </a:cubicBezTo>
                    <a:lnTo>
                      <a:pt x="2561700" y="1580135"/>
                    </a:lnTo>
                    <a:cubicBezTo>
                      <a:pt x="2561700" y="1602554"/>
                      <a:pt x="2543525" y="1620729"/>
                      <a:pt x="2521106" y="1620729"/>
                    </a:cubicBezTo>
                    <a:lnTo>
                      <a:pt x="40594" y="1620729"/>
                    </a:lnTo>
                    <a:cubicBezTo>
                      <a:pt x="18175" y="1620729"/>
                      <a:pt x="0" y="1602554"/>
                      <a:pt x="0" y="1580135"/>
                    </a:cubicBezTo>
                    <a:lnTo>
                      <a:pt x="0" y="40594"/>
                    </a:lnTo>
                    <a:cubicBezTo>
                      <a:pt x="0" y="18175"/>
                      <a:pt x="18175" y="0"/>
                      <a:pt x="40594" y="0"/>
                    </a:cubicBezTo>
                    <a:close/>
                  </a:path>
                </a:pathLst>
              </a:custGeom>
              <a:solidFill>
                <a:srgbClr val="79CCDB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47625"/>
                <a:ext cx="2561700" cy="16683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694463" y="4061121"/>
              <a:ext cx="11987233" cy="7236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u="sng" b="true">
                  <a:solidFill>
                    <a:srgbClr val="8D1F7A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5: Módulo Menú de Estado</a:t>
              </a:r>
            </a:p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444C5C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Este módulo proporciona monitoreo en tiempo real del estado del vehículo y sistema de mantenimientos predictivos.</a:t>
              </a:r>
            </a:p>
            <a:p>
              <a:pPr algn="l">
                <a:lnSpc>
                  <a:spcPts val="3919"/>
                </a:lnSpc>
              </a:pPr>
            </a:p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444C5C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Características principales:</a:t>
              </a:r>
            </a:p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B</a:t>
              </a: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arras de progreso para mantenimientos programados</a:t>
              </a:r>
            </a:p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Visualización de kilometraje en tiempo real desde sensores Arduino</a:t>
              </a:r>
            </a:p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444C5C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Sistema de alertas proactivas para mantenimientos necesarios, según manuales oficiales.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418383"/>
            <a:ext cx="8467369" cy="385318"/>
          </a:xfrm>
          <a:custGeom>
            <a:avLst/>
            <a:gdLst/>
            <a:ahLst/>
            <a:cxnLst/>
            <a:rect r="r" b="b" t="t" l="l"/>
            <a:pathLst>
              <a:path h="385318" w="8467369">
                <a:moveTo>
                  <a:pt x="0" y="0"/>
                </a:moveTo>
                <a:lnTo>
                  <a:pt x="8467369" y="0"/>
                </a:lnTo>
                <a:lnTo>
                  <a:pt x="8467369" y="385318"/>
                </a:lnTo>
                <a:lnTo>
                  <a:pt x="0" y="38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849327"/>
            <a:ext cx="5836607" cy="1964623"/>
            <a:chOff x="0" y="0"/>
            <a:chExt cx="7782142" cy="26194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6366499" y="0"/>
              <a:ext cx="1415643" cy="2619497"/>
            </a:xfrm>
            <a:custGeom>
              <a:avLst/>
              <a:gdLst/>
              <a:ahLst/>
              <a:cxnLst/>
              <a:rect r="r" b="b" t="t" l="l"/>
              <a:pathLst>
                <a:path h="2619497" w="1415643">
                  <a:moveTo>
                    <a:pt x="0" y="0"/>
                  </a:moveTo>
                  <a:lnTo>
                    <a:pt x="1415643" y="0"/>
                  </a:lnTo>
                  <a:lnTo>
                    <a:pt x="1415643" y="2619497"/>
                  </a:lnTo>
                  <a:lnTo>
                    <a:pt x="0" y="2619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0" y="579021"/>
              <a:ext cx="6826439" cy="17928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200"/>
                </a:lnSpc>
              </a:pPr>
              <a:r>
                <a:rPr lang="en-US" b="true" sz="8000">
                  <a:solidFill>
                    <a:srgbClr val="444445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Firebase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2182962"/>
            <a:ext cx="18288000" cy="7745805"/>
            <a:chOff x="0" y="0"/>
            <a:chExt cx="24384000" cy="10327741"/>
          </a:xfrm>
        </p:grpSpPr>
        <p:sp>
          <p:nvSpPr>
            <p:cNvPr name="AutoShape 7" id="7"/>
            <p:cNvSpPr/>
            <p:nvPr/>
          </p:nvSpPr>
          <p:spPr>
            <a:xfrm>
              <a:off x="0" y="25400"/>
              <a:ext cx="24384000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11785407" y="25400"/>
              <a:ext cx="0" cy="10302341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449089" y="4066914"/>
            <a:ext cx="12311811" cy="5861854"/>
            <a:chOff x="0" y="0"/>
            <a:chExt cx="16415747" cy="78158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4197937" y="2525752"/>
              <a:ext cx="2217810" cy="2223740"/>
            </a:xfrm>
            <a:custGeom>
              <a:avLst/>
              <a:gdLst/>
              <a:ahLst/>
              <a:cxnLst/>
              <a:rect r="r" b="b" t="t" l="l"/>
              <a:pathLst>
                <a:path h="2223740" w="2217810">
                  <a:moveTo>
                    <a:pt x="0" y="0"/>
                  </a:moveTo>
                  <a:lnTo>
                    <a:pt x="2217810" y="0"/>
                  </a:lnTo>
                  <a:lnTo>
                    <a:pt x="2217810" y="2223740"/>
                  </a:lnTo>
                  <a:lnTo>
                    <a:pt x="0" y="2223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37231" y="0"/>
              <a:ext cx="3087143" cy="3070304"/>
            </a:xfrm>
            <a:custGeom>
              <a:avLst/>
              <a:gdLst/>
              <a:ahLst/>
              <a:cxnLst/>
              <a:rect r="r" b="b" t="t" l="l"/>
              <a:pathLst>
                <a:path h="3070304" w="3087143">
                  <a:moveTo>
                    <a:pt x="0" y="0"/>
                  </a:moveTo>
                  <a:lnTo>
                    <a:pt x="3087143" y="0"/>
                  </a:lnTo>
                  <a:lnTo>
                    <a:pt x="3087143" y="3070304"/>
                  </a:lnTo>
                  <a:lnTo>
                    <a:pt x="0" y="3070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267035" y="3702806"/>
              <a:ext cx="2740903" cy="3774926"/>
            </a:xfrm>
            <a:custGeom>
              <a:avLst/>
              <a:gdLst/>
              <a:ahLst/>
              <a:cxnLst/>
              <a:rect r="r" b="b" t="t" l="l"/>
              <a:pathLst>
                <a:path h="3774926" w="2740903">
                  <a:moveTo>
                    <a:pt x="0" y="0"/>
                  </a:moveTo>
                  <a:lnTo>
                    <a:pt x="2740903" y="0"/>
                  </a:lnTo>
                  <a:lnTo>
                    <a:pt x="2740903" y="3774926"/>
                  </a:lnTo>
                  <a:lnTo>
                    <a:pt x="0" y="3774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6499304"/>
              <a:ext cx="2839514" cy="1316502"/>
            </a:xfrm>
            <a:custGeom>
              <a:avLst/>
              <a:gdLst/>
              <a:ahLst/>
              <a:cxnLst/>
              <a:rect r="r" b="b" t="t" l="l"/>
              <a:pathLst>
                <a:path h="1316502" w="2839514">
                  <a:moveTo>
                    <a:pt x="0" y="0"/>
                  </a:moveTo>
                  <a:lnTo>
                    <a:pt x="2839514" y="0"/>
                  </a:lnTo>
                  <a:lnTo>
                    <a:pt x="2839514" y="1316501"/>
                  </a:lnTo>
                  <a:lnTo>
                    <a:pt x="0" y="13165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42955" y="312848"/>
            <a:ext cx="9212267" cy="1105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320"/>
              </a:lnSpc>
            </a:pPr>
            <a:r>
              <a:rPr lang="en-US" b="true" sz="8000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Bases de Datos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240514" y="2335412"/>
            <a:ext cx="6594226" cy="1310873"/>
            <a:chOff x="0" y="0"/>
            <a:chExt cx="8792302" cy="174783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826439" y="0"/>
              <a:ext cx="1965863" cy="1747831"/>
            </a:xfrm>
            <a:custGeom>
              <a:avLst/>
              <a:gdLst/>
              <a:ahLst/>
              <a:cxnLst/>
              <a:rect r="r" b="b" t="t" l="l"/>
              <a:pathLst>
                <a:path h="1747831" w="1965863">
                  <a:moveTo>
                    <a:pt x="0" y="0"/>
                  </a:moveTo>
                  <a:lnTo>
                    <a:pt x="1965863" y="0"/>
                  </a:lnTo>
                  <a:lnTo>
                    <a:pt x="1965863" y="1747831"/>
                  </a:lnTo>
                  <a:lnTo>
                    <a:pt x="0" y="17478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0" y="-44985"/>
              <a:ext cx="6826439" cy="17928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200"/>
                </a:lnSpc>
              </a:pPr>
              <a:r>
                <a:rPr lang="en-US" b="true" sz="8000">
                  <a:solidFill>
                    <a:srgbClr val="444445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BigQuery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-189853" y="3813950"/>
            <a:ext cx="15765119" cy="6367781"/>
            <a:chOff x="0" y="0"/>
            <a:chExt cx="21020159" cy="8490374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66675"/>
              <a:ext cx="7296348" cy="85570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b="true" sz="2799">
                  <a:solidFill>
                    <a:srgbClr val="444C5C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La Integración de Firebase al proyecto es crucial para el almacenamiento, registro y verificación de los usuarios registrados en la app, gracias a sus funcionalidades integradas.</a:t>
              </a:r>
            </a:p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b="true" sz="2799">
                  <a:solidFill>
                    <a:srgbClr val="444C5C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Por otro lado, así como con los usuarios, también se encarga del almacenamiento de los datos más relevantes del auto correspondiente al usuario.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2826814" y="593725"/>
              <a:ext cx="8193345" cy="7236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3" indent="-302256" lvl="1">
                <a:lnSpc>
                  <a:spcPts val="3919"/>
                </a:lnSpc>
                <a:buFont typeface="Arial"/>
                <a:buChar char="•"/>
              </a:pPr>
              <a:r>
                <a:rPr lang="en-US" b="true" sz="2799">
                  <a:solidFill>
                    <a:srgbClr val="444C5C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La base de datos en BigQuery complementa a Firebase al centralizar los datos oficiales de mantenimiento de vehículos. Esto permite realizar comparativas en tiempo real desde el "StatusMenu", agilizando la revisión de próximas mantenciones, reemplazos y revisiones necesarias para el usuario.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AE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20610" y="4126115"/>
            <a:ext cx="10454363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b="true" sz="9999">
                <a:solidFill>
                  <a:srgbClr val="2E576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Estándares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470079" y="8480160"/>
            <a:ext cx="7315200" cy="1343780"/>
          </a:xfrm>
          <a:custGeom>
            <a:avLst/>
            <a:gdLst/>
            <a:ahLst/>
            <a:cxnLst/>
            <a:rect r="r" b="b" t="t" l="l"/>
            <a:pathLst>
              <a:path h="1343780" w="7315200">
                <a:moveTo>
                  <a:pt x="0" y="0"/>
                </a:moveTo>
                <a:lnTo>
                  <a:pt x="7315200" y="0"/>
                </a:lnTo>
                <a:lnTo>
                  <a:pt x="7315200" y="1343779"/>
                </a:lnTo>
                <a:lnTo>
                  <a:pt x="0" y="13437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107023" y="2938732"/>
            <a:ext cx="11700507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¿Bajo qué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43231" y="5672407"/>
            <a:ext cx="11700507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trabajamos?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1150421" y="356810"/>
            <a:ext cx="7315200" cy="1343780"/>
          </a:xfrm>
          <a:custGeom>
            <a:avLst/>
            <a:gdLst/>
            <a:ahLst/>
            <a:cxnLst/>
            <a:rect r="r" b="b" t="t" l="l"/>
            <a:pathLst>
              <a:path h="1343780" w="7315200">
                <a:moveTo>
                  <a:pt x="0" y="0"/>
                </a:moveTo>
                <a:lnTo>
                  <a:pt x="7315200" y="0"/>
                </a:lnTo>
                <a:lnTo>
                  <a:pt x="7315200" y="1343780"/>
                </a:lnTo>
                <a:lnTo>
                  <a:pt x="0" y="13437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75053" y="3319458"/>
            <a:ext cx="565444" cy="529123"/>
          </a:xfrm>
          <a:custGeom>
            <a:avLst/>
            <a:gdLst/>
            <a:ahLst/>
            <a:cxnLst/>
            <a:rect r="r" b="b" t="t" l="l"/>
            <a:pathLst>
              <a:path h="529123" w="565444">
                <a:moveTo>
                  <a:pt x="0" y="0"/>
                </a:moveTo>
                <a:lnTo>
                  <a:pt x="565444" y="0"/>
                </a:lnTo>
                <a:lnTo>
                  <a:pt x="565444" y="529123"/>
                </a:lnTo>
                <a:lnTo>
                  <a:pt x="0" y="5291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34140" y="4197026"/>
            <a:ext cx="565444" cy="529123"/>
          </a:xfrm>
          <a:custGeom>
            <a:avLst/>
            <a:gdLst/>
            <a:ahLst/>
            <a:cxnLst/>
            <a:rect r="r" b="b" t="t" l="l"/>
            <a:pathLst>
              <a:path h="529123" w="565444">
                <a:moveTo>
                  <a:pt x="0" y="0"/>
                </a:moveTo>
                <a:lnTo>
                  <a:pt x="565443" y="0"/>
                </a:lnTo>
                <a:lnTo>
                  <a:pt x="565443" y="529123"/>
                </a:lnTo>
                <a:lnTo>
                  <a:pt x="0" y="5291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85864" y="5070151"/>
            <a:ext cx="565444" cy="529123"/>
          </a:xfrm>
          <a:custGeom>
            <a:avLst/>
            <a:gdLst/>
            <a:ahLst/>
            <a:cxnLst/>
            <a:rect r="r" b="b" t="t" l="l"/>
            <a:pathLst>
              <a:path h="529123" w="565444">
                <a:moveTo>
                  <a:pt x="0" y="0"/>
                </a:moveTo>
                <a:lnTo>
                  <a:pt x="565444" y="0"/>
                </a:lnTo>
                <a:lnTo>
                  <a:pt x="565444" y="529123"/>
                </a:lnTo>
                <a:lnTo>
                  <a:pt x="0" y="5291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769688" y="5943276"/>
            <a:ext cx="565444" cy="529123"/>
          </a:xfrm>
          <a:custGeom>
            <a:avLst/>
            <a:gdLst/>
            <a:ahLst/>
            <a:cxnLst/>
            <a:rect r="r" b="b" t="t" l="l"/>
            <a:pathLst>
              <a:path h="529123" w="565444">
                <a:moveTo>
                  <a:pt x="0" y="0"/>
                </a:moveTo>
                <a:lnTo>
                  <a:pt x="565444" y="0"/>
                </a:lnTo>
                <a:lnTo>
                  <a:pt x="565444" y="529123"/>
                </a:lnTo>
                <a:lnTo>
                  <a:pt x="0" y="5291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6816401"/>
            <a:ext cx="565444" cy="529123"/>
          </a:xfrm>
          <a:custGeom>
            <a:avLst/>
            <a:gdLst/>
            <a:ahLst/>
            <a:cxnLst/>
            <a:rect r="r" b="b" t="t" l="l"/>
            <a:pathLst>
              <a:path h="529123" w="565444">
                <a:moveTo>
                  <a:pt x="0" y="0"/>
                </a:moveTo>
                <a:lnTo>
                  <a:pt x="565444" y="0"/>
                </a:lnTo>
                <a:lnTo>
                  <a:pt x="565444" y="529123"/>
                </a:lnTo>
                <a:lnTo>
                  <a:pt x="0" y="5291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45805" y="-305610"/>
            <a:ext cx="2549009" cy="4766647"/>
          </a:xfrm>
          <a:custGeom>
            <a:avLst/>
            <a:gdLst/>
            <a:ahLst/>
            <a:cxnLst/>
            <a:rect r="r" b="b" t="t" l="l"/>
            <a:pathLst>
              <a:path h="4766647" w="2549009">
                <a:moveTo>
                  <a:pt x="0" y="0"/>
                </a:moveTo>
                <a:lnTo>
                  <a:pt x="2549010" y="0"/>
                </a:lnTo>
                <a:lnTo>
                  <a:pt x="2549010" y="4766647"/>
                </a:lnTo>
                <a:lnTo>
                  <a:pt x="0" y="47666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082669" y="3749961"/>
            <a:ext cx="1897261" cy="2192213"/>
          </a:xfrm>
          <a:custGeom>
            <a:avLst/>
            <a:gdLst/>
            <a:ahLst/>
            <a:cxnLst/>
            <a:rect r="r" b="b" t="t" l="l"/>
            <a:pathLst>
              <a:path h="2192213" w="1897261">
                <a:moveTo>
                  <a:pt x="0" y="0"/>
                </a:moveTo>
                <a:lnTo>
                  <a:pt x="1897260" y="0"/>
                </a:lnTo>
                <a:lnTo>
                  <a:pt x="1897260" y="2192213"/>
                </a:lnTo>
                <a:lnTo>
                  <a:pt x="0" y="219221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5400000">
            <a:off x="11605483" y="4153139"/>
            <a:ext cx="1177655" cy="2402619"/>
            <a:chOff x="0" y="0"/>
            <a:chExt cx="612269" cy="12491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12269" cy="1249135"/>
            </a:xfrm>
            <a:custGeom>
              <a:avLst/>
              <a:gdLst/>
              <a:ahLst/>
              <a:cxnLst/>
              <a:rect r="r" b="b" t="t" l="l"/>
              <a:pathLst>
                <a:path h="1249135" w="612269">
                  <a:moveTo>
                    <a:pt x="306135" y="1249135"/>
                  </a:moveTo>
                  <a:lnTo>
                    <a:pt x="0" y="842735"/>
                  </a:lnTo>
                  <a:lnTo>
                    <a:pt x="203200" y="842735"/>
                  </a:lnTo>
                  <a:lnTo>
                    <a:pt x="203200" y="0"/>
                  </a:lnTo>
                  <a:lnTo>
                    <a:pt x="409069" y="0"/>
                  </a:lnTo>
                  <a:lnTo>
                    <a:pt x="409069" y="842735"/>
                  </a:lnTo>
                  <a:lnTo>
                    <a:pt x="612269" y="842735"/>
                  </a:lnTo>
                  <a:lnTo>
                    <a:pt x="306135" y="1249135"/>
                  </a:lnTo>
                  <a:close/>
                </a:path>
              </a:pathLst>
            </a:custGeom>
            <a:solidFill>
              <a:srgbClr val="8D1F7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203200" y="-57150"/>
              <a:ext cx="205869" cy="12046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616861" y="3243258"/>
            <a:ext cx="9718801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Requerimientos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18014" y="688735"/>
            <a:ext cx="11471656" cy="1387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true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Metodología Cascada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40986" y="5865974"/>
            <a:ext cx="7504889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Verificación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90812" y="6739099"/>
            <a:ext cx="6155063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Despliegue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98312" y="4119725"/>
            <a:ext cx="9847563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Diseño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76505" y="4992849"/>
            <a:ext cx="3176626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Implementación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633855"/>
            <a:ext cx="12529159" cy="9396869"/>
          </a:xfrm>
          <a:custGeom>
            <a:avLst/>
            <a:gdLst/>
            <a:ahLst/>
            <a:cxnLst/>
            <a:rect r="r" b="b" t="t" l="l"/>
            <a:pathLst>
              <a:path h="9396869" w="12529159">
                <a:moveTo>
                  <a:pt x="0" y="0"/>
                </a:moveTo>
                <a:lnTo>
                  <a:pt x="12529159" y="0"/>
                </a:lnTo>
                <a:lnTo>
                  <a:pt x="12529159" y="9396869"/>
                </a:lnTo>
                <a:lnTo>
                  <a:pt x="0" y="93968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8225" y="1133475"/>
            <a:ext cx="14314368" cy="1105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320"/>
              </a:lnSpc>
              <a:spcBef>
                <a:spcPct val="0"/>
              </a:spcBef>
            </a:pPr>
            <a:r>
              <a:rPr lang="en-US" b="true" sz="8000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Cronograma del proyecto: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292331" y="2239011"/>
            <a:ext cx="11260089" cy="512404"/>
          </a:xfrm>
          <a:custGeom>
            <a:avLst/>
            <a:gdLst/>
            <a:ahLst/>
            <a:cxnLst/>
            <a:rect r="r" b="b" t="t" l="l"/>
            <a:pathLst>
              <a:path h="512404" w="11260089">
                <a:moveTo>
                  <a:pt x="0" y="0"/>
                </a:moveTo>
                <a:lnTo>
                  <a:pt x="11260089" y="0"/>
                </a:lnTo>
                <a:lnTo>
                  <a:pt x="11260089" y="512404"/>
                </a:lnTo>
                <a:lnTo>
                  <a:pt x="0" y="5124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073555" y="2239011"/>
            <a:ext cx="901115" cy="901115"/>
            <a:chOff x="0" y="0"/>
            <a:chExt cx="1201487" cy="120148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196005" y="196005"/>
              <a:ext cx="809478" cy="809478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1487" cy="1201487"/>
            </a:xfrm>
            <a:custGeom>
              <a:avLst/>
              <a:gdLst/>
              <a:ahLst/>
              <a:cxnLst/>
              <a:rect r="r" b="b" t="t" l="l"/>
              <a:pathLst>
                <a:path h="1201487" w="1201487">
                  <a:moveTo>
                    <a:pt x="0" y="0"/>
                  </a:moveTo>
                  <a:lnTo>
                    <a:pt x="1201487" y="0"/>
                  </a:lnTo>
                  <a:lnTo>
                    <a:pt x="1201487" y="1201487"/>
                  </a:lnTo>
                  <a:lnTo>
                    <a:pt x="0" y="1201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905334" y="2199938"/>
            <a:ext cx="6127496" cy="2462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5025" indent="-302512" lvl="1">
              <a:lnSpc>
                <a:spcPts val="3923"/>
              </a:lnSpc>
              <a:buFont typeface="Arial"/>
              <a:buChar char="•"/>
            </a:pPr>
            <a:r>
              <a:rPr lang="en-US" b="true" sz="2802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Cambios Relevantes:</a:t>
            </a:r>
          </a:p>
          <a:p>
            <a:pPr algn="l" marL="605025" indent="-302512" lvl="1">
              <a:lnSpc>
                <a:spcPts val="3923"/>
              </a:lnSpc>
              <a:buFont typeface="Arial"/>
              <a:buChar char="•"/>
            </a:pPr>
            <a:r>
              <a:rPr lang="en-US" sz="2802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tiempo de desarrollo de la  actividad “Parte Lógica” se extendió por falta de funcionalidades.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05334" y="4605258"/>
            <a:ext cx="6255081" cy="545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5025" indent="-302512" lvl="1">
              <a:lnSpc>
                <a:spcPts val="3923"/>
              </a:lnSpc>
              <a:buFont typeface="Arial"/>
              <a:buChar char="•"/>
            </a:pPr>
            <a:r>
              <a:rPr lang="en-US" b="true" sz="2802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Duración total Estimada:</a:t>
            </a:r>
            <a:r>
              <a:rPr lang="en-US" sz="2802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4 meses.</a:t>
            </a:r>
          </a:p>
          <a:p>
            <a:pPr algn="l" marL="605025" indent="-302512" lvl="1">
              <a:lnSpc>
                <a:spcPts val="3923"/>
              </a:lnSpc>
              <a:buFont typeface="Arial"/>
              <a:buChar char="•"/>
            </a:pPr>
            <a:r>
              <a:rPr lang="en-US" b="true" sz="2802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Hitos relevantes:</a:t>
            </a:r>
          </a:p>
          <a:p>
            <a:pPr algn="l">
              <a:lnSpc>
                <a:spcPts val="3363"/>
              </a:lnSpc>
            </a:pPr>
            <a:r>
              <a:rPr lang="en-US" sz="2402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- </a:t>
            </a:r>
            <a:r>
              <a:rPr lang="en-US" sz="2402" b="true">
                <a:solidFill>
                  <a:srgbClr val="45A8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Entrega Fase 1:</a:t>
            </a:r>
            <a:r>
              <a:rPr lang="en-US" sz="2402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Semana 4</a:t>
            </a:r>
          </a:p>
          <a:p>
            <a:pPr algn="l">
              <a:lnSpc>
                <a:spcPts val="3223"/>
              </a:lnSpc>
            </a:pPr>
            <a:r>
              <a:rPr lang="en-US" sz="2302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      Bases del Proyecto</a:t>
            </a:r>
          </a:p>
          <a:p>
            <a:pPr algn="l">
              <a:lnSpc>
                <a:spcPts val="2803"/>
              </a:lnSpc>
            </a:pPr>
          </a:p>
          <a:p>
            <a:pPr algn="l">
              <a:lnSpc>
                <a:spcPts val="3363"/>
              </a:lnSpc>
            </a:pPr>
            <a:r>
              <a:rPr lang="en-US" sz="2402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-</a:t>
            </a:r>
            <a:r>
              <a:rPr lang="en-US" sz="2402" b="true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sz="2402" b="true">
                <a:solidFill>
                  <a:srgbClr val="45A83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Entrega Fase 2:</a:t>
            </a:r>
            <a:r>
              <a:rPr lang="en-US" sz="2402" b="true">
                <a:solidFill>
                  <a:srgbClr val="FFB71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sz="2402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Semana 10</a:t>
            </a:r>
          </a:p>
          <a:p>
            <a:pPr algn="l">
              <a:lnSpc>
                <a:spcPts val="3223"/>
              </a:lnSpc>
            </a:pPr>
            <a:r>
              <a:rPr lang="en-US" sz="2302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      Entrega de avance</a:t>
            </a:r>
          </a:p>
          <a:p>
            <a:pPr algn="l">
              <a:lnSpc>
                <a:spcPts val="3363"/>
              </a:lnSpc>
            </a:pPr>
          </a:p>
          <a:p>
            <a:pPr algn="l">
              <a:lnSpc>
                <a:spcPts val="3363"/>
              </a:lnSpc>
            </a:pPr>
            <a:r>
              <a:rPr lang="en-US" sz="2402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- </a:t>
            </a:r>
            <a:r>
              <a:rPr lang="en-US" sz="2402" b="true">
                <a:solidFill>
                  <a:srgbClr val="FFB716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Entrega Fase 3: </a:t>
            </a:r>
            <a:r>
              <a:rPr lang="en-US" sz="2402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Semana 15</a:t>
            </a:r>
          </a:p>
          <a:p>
            <a:pPr algn="l">
              <a:lnSpc>
                <a:spcPts val="3223"/>
              </a:lnSpc>
            </a:pPr>
            <a:r>
              <a:rPr lang="en-US" sz="2302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      Entrega Final</a:t>
            </a:r>
          </a:p>
          <a:p>
            <a:pPr algn="l">
              <a:lnSpc>
                <a:spcPts val="3363"/>
              </a:lnSpc>
            </a:pPr>
          </a:p>
          <a:p>
            <a:pPr algn="l">
              <a:lnSpc>
                <a:spcPts val="3363"/>
              </a:lnSpc>
            </a:pPr>
            <a:r>
              <a:rPr lang="en-US" sz="2402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- </a:t>
            </a:r>
            <a:r>
              <a:rPr lang="en-US" sz="2402" b="true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Entrega Fase 4:</a:t>
            </a:r>
            <a:r>
              <a:rPr lang="en-US" sz="2402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Semana 17</a:t>
            </a:r>
          </a:p>
          <a:p>
            <a:pPr algn="l">
              <a:lnSpc>
                <a:spcPts val="3223"/>
              </a:lnSpc>
            </a:pPr>
            <a:r>
              <a:rPr lang="en-US" sz="2302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          Presentación del proyecto funcional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4B4B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87521" y="4144168"/>
            <a:ext cx="11700507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b="true" sz="9999">
                <a:solidFill>
                  <a:srgbClr val="2E576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Pendientes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470079" y="8480160"/>
            <a:ext cx="7315200" cy="1343780"/>
          </a:xfrm>
          <a:custGeom>
            <a:avLst/>
            <a:gdLst/>
            <a:ahLst/>
            <a:cxnLst/>
            <a:rect r="r" b="b" t="t" l="l"/>
            <a:pathLst>
              <a:path h="1343780" w="7315200">
                <a:moveTo>
                  <a:pt x="0" y="0"/>
                </a:moveTo>
                <a:lnTo>
                  <a:pt x="7315200" y="0"/>
                </a:lnTo>
                <a:lnTo>
                  <a:pt x="7315200" y="1343779"/>
                </a:lnTo>
                <a:lnTo>
                  <a:pt x="0" y="13437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87521" y="2956719"/>
            <a:ext cx="11700507" cy="1387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Avances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150421" y="356810"/>
            <a:ext cx="7315200" cy="1343780"/>
          </a:xfrm>
          <a:custGeom>
            <a:avLst/>
            <a:gdLst/>
            <a:ahLst/>
            <a:cxnLst/>
            <a:rect r="r" b="b" t="t" l="l"/>
            <a:pathLst>
              <a:path h="1343780" w="7315200">
                <a:moveTo>
                  <a:pt x="0" y="0"/>
                </a:moveTo>
                <a:lnTo>
                  <a:pt x="7315200" y="0"/>
                </a:lnTo>
                <a:lnTo>
                  <a:pt x="7315200" y="1343780"/>
                </a:lnTo>
                <a:lnTo>
                  <a:pt x="0" y="13437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02532"/>
            <a:ext cx="12618527" cy="705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89"/>
              </a:lnSpc>
              <a:spcBef>
                <a:spcPct val="0"/>
              </a:spcBef>
            </a:pPr>
            <a:r>
              <a:rPr lang="en-US" b="true" sz="5182">
                <a:solidFill>
                  <a:srgbClr val="444C5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Avances pendientes del proyecto: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3515872" y="-9525"/>
            <a:ext cx="4781653" cy="5597722"/>
          </a:xfrm>
          <a:custGeom>
            <a:avLst/>
            <a:gdLst/>
            <a:ahLst/>
            <a:cxnLst/>
            <a:rect r="r" b="b" t="t" l="l"/>
            <a:pathLst>
              <a:path h="5597722" w="4781653">
                <a:moveTo>
                  <a:pt x="4781653" y="0"/>
                </a:moveTo>
                <a:lnTo>
                  <a:pt x="0" y="0"/>
                </a:lnTo>
                <a:lnTo>
                  <a:pt x="0" y="5597722"/>
                </a:lnTo>
                <a:lnTo>
                  <a:pt x="4781653" y="5597722"/>
                </a:lnTo>
                <a:lnTo>
                  <a:pt x="478165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333137" y="9763125"/>
            <a:ext cx="795292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44C5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Esquema utilizado: Caja de Eisenhower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354991" y="1661496"/>
            <a:ext cx="8533967" cy="7814727"/>
            <a:chOff x="0" y="0"/>
            <a:chExt cx="11378623" cy="10419636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1443567" y="1037167"/>
              <a:ext cx="4596491" cy="4561749"/>
              <a:chOff x="0" y="0"/>
              <a:chExt cx="907949" cy="90108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907949" cy="901086"/>
              </a:xfrm>
              <a:custGeom>
                <a:avLst/>
                <a:gdLst/>
                <a:ahLst/>
                <a:cxnLst/>
                <a:rect r="r" b="b" t="t" l="l"/>
                <a:pathLst>
                  <a:path h="901086" w="907949">
                    <a:moveTo>
                      <a:pt x="114533" y="0"/>
                    </a:moveTo>
                    <a:lnTo>
                      <a:pt x="793416" y="0"/>
                    </a:lnTo>
                    <a:cubicBezTo>
                      <a:pt x="856671" y="0"/>
                      <a:pt x="907949" y="51278"/>
                      <a:pt x="907949" y="114533"/>
                    </a:cubicBezTo>
                    <a:lnTo>
                      <a:pt x="907949" y="786553"/>
                    </a:lnTo>
                    <a:cubicBezTo>
                      <a:pt x="907949" y="816929"/>
                      <a:pt x="895882" y="846061"/>
                      <a:pt x="874403" y="867540"/>
                    </a:cubicBezTo>
                    <a:cubicBezTo>
                      <a:pt x="852924" y="889019"/>
                      <a:pt x="823792" y="901086"/>
                      <a:pt x="793416" y="901086"/>
                    </a:cubicBezTo>
                    <a:lnTo>
                      <a:pt x="114533" y="901086"/>
                    </a:lnTo>
                    <a:cubicBezTo>
                      <a:pt x="51278" y="901086"/>
                      <a:pt x="0" y="849808"/>
                      <a:pt x="0" y="786553"/>
                    </a:cubicBezTo>
                    <a:lnTo>
                      <a:pt x="0" y="114533"/>
                    </a:lnTo>
                    <a:cubicBezTo>
                      <a:pt x="0" y="51278"/>
                      <a:pt x="51278" y="0"/>
                      <a:pt x="114533" y="0"/>
                    </a:cubicBezTo>
                    <a:close/>
                  </a:path>
                </a:pathLst>
              </a:custGeom>
              <a:solidFill>
                <a:srgbClr val="45A834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57150"/>
                <a:ext cx="907949" cy="9582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431801" indent="-215900" lvl="1">
                  <a:lnSpc>
                    <a:spcPts val="2800"/>
                  </a:lnSpc>
                  <a:buFont typeface="Arial"/>
                  <a:buChar char="•"/>
                </a:pPr>
                <a:r>
                  <a:rPr lang="en-US" sz="2000">
                    <a:solidFill>
                      <a:srgbClr val="000000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Conexión Con Arduino</a:t>
                </a:r>
              </a:p>
              <a:p>
                <a:pPr algn="ctr" marL="431801" indent="-215900" lvl="1">
                  <a:lnSpc>
                    <a:spcPts val="2800"/>
                  </a:lnSpc>
                  <a:buFont typeface="Arial"/>
                  <a:buChar char="•"/>
                </a:pPr>
                <a:r>
                  <a:rPr lang="en-US" sz="2000">
                    <a:solidFill>
                      <a:srgbClr val="000000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Módulo de Gestión de vehículos registrados por usuario</a:t>
                </a:r>
              </a:p>
              <a:p>
                <a:pPr algn="ctr" marL="431801" indent="-215900" lvl="1">
                  <a:lnSpc>
                    <a:spcPts val="2800"/>
                  </a:lnSpc>
                  <a:buFont typeface="Arial"/>
                  <a:buChar char="•"/>
                </a:pPr>
                <a:r>
                  <a:rPr lang="en-US" sz="2000">
                    <a:solidFill>
                      <a:srgbClr val="000000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Configuración de perfil de usuario</a:t>
                </a:r>
              </a:p>
              <a:p>
                <a:pPr algn="ctr" marL="431801" indent="-215900" lvl="1">
                  <a:lnSpc>
                    <a:spcPts val="2800"/>
                  </a:lnSpc>
                  <a:buFont typeface="Arial"/>
                  <a:buChar char="•"/>
                </a:pPr>
                <a:r>
                  <a:rPr lang="en-US" sz="2000">
                    <a:solidFill>
                      <a:srgbClr val="000000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Pestaña “Acerca de”</a:t>
                </a: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6771612" y="1037167"/>
              <a:ext cx="4564401" cy="4561749"/>
              <a:chOff x="0" y="0"/>
              <a:chExt cx="901610" cy="90108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901610" cy="901086"/>
              </a:xfrm>
              <a:custGeom>
                <a:avLst/>
                <a:gdLst/>
                <a:ahLst/>
                <a:cxnLst/>
                <a:rect r="r" b="b" t="t" l="l"/>
                <a:pathLst>
                  <a:path h="901086" w="901610">
                    <a:moveTo>
                      <a:pt x="115338" y="0"/>
                    </a:moveTo>
                    <a:lnTo>
                      <a:pt x="786272" y="0"/>
                    </a:lnTo>
                    <a:cubicBezTo>
                      <a:pt x="849971" y="0"/>
                      <a:pt x="901610" y="51639"/>
                      <a:pt x="901610" y="115338"/>
                    </a:cubicBezTo>
                    <a:lnTo>
                      <a:pt x="901610" y="785748"/>
                    </a:lnTo>
                    <a:cubicBezTo>
                      <a:pt x="901610" y="816337"/>
                      <a:pt x="889458" y="845674"/>
                      <a:pt x="867828" y="867304"/>
                    </a:cubicBezTo>
                    <a:cubicBezTo>
                      <a:pt x="846198" y="888935"/>
                      <a:pt x="816861" y="901086"/>
                      <a:pt x="786272" y="901086"/>
                    </a:cubicBezTo>
                    <a:lnTo>
                      <a:pt x="115338" y="901086"/>
                    </a:lnTo>
                    <a:cubicBezTo>
                      <a:pt x="51639" y="901086"/>
                      <a:pt x="0" y="849447"/>
                      <a:pt x="0" y="785748"/>
                    </a:cubicBezTo>
                    <a:lnTo>
                      <a:pt x="0" y="115338"/>
                    </a:lnTo>
                    <a:cubicBezTo>
                      <a:pt x="0" y="51639"/>
                      <a:pt x="51639" y="0"/>
                      <a:pt x="115338" y="0"/>
                    </a:cubicBezTo>
                    <a:close/>
                  </a:path>
                </a:pathLst>
              </a:custGeom>
              <a:solidFill>
                <a:srgbClr val="E46E06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57150"/>
                <a:ext cx="901610" cy="95823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431801" indent="-215900" lvl="1">
                  <a:lnSpc>
                    <a:spcPts val="2800"/>
                  </a:lnSpc>
                  <a:buFont typeface="Arial"/>
                  <a:buChar char="•"/>
                </a:pPr>
                <a:r>
                  <a:rPr lang="en-US" sz="2000">
                    <a:solidFill>
                      <a:srgbClr val="000000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Conexión de Base de Datos BigQuery con menú de estado de la app.</a:t>
                </a: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443567" y="5928972"/>
              <a:ext cx="4596491" cy="4490665"/>
              <a:chOff x="0" y="0"/>
              <a:chExt cx="907949" cy="887045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07949" cy="887045"/>
              </a:xfrm>
              <a:custGeom>
                <a:avLst/>
                <a:gdLst/>
                <a:ahLst/>
                <a:cxnLst/>
                <a:rect r="r" b="b" t="t" l="l"/>
                <a:pathLst>
                  <a:path h="887045" w="907949">
                    <a:moveTo>
                      <a:pt x="114533" y="0"/>
                    </a:moveTo>
                    <a:lnTo>
                      <a:pt x="793416" y="0"/>
                    </a:lnTo>
                    <a:cubicBezTo>
                      <a:pt x="856671" y="0"/>
                      <a:pt x="907949" y="51278"/>
                      <a:pt x="907949" y="114533"/>
                    </a:cubicBezTo>
                    <a:lnTo>
                      <a:pt x="907949" y="772512"/>
                    </a:lnTo>
                    <a:cubicBezTo>
                      <a:pt x="907949" y="802888"/>
                      <a:pt x="895882" y="832020"/>
                      <a:pt x="874403" y="853499"/>
                    </a:cubicBezTo>
                    <a:cubicBezTo>
                      <a:pt x="852924" y="874978"/>
                      <a:pt x="823792" y="887045"/>
                      <a:pt x="793416" y="887045"/>
                    </a:cubicBezTo>
                    <a:lnTo>
                      <a:pt x="114533" y="887045"/>
                    </a:lnTo>
                    <a:cubicBezTo>
                      <a:pt x="51278" y="887045"/>
                      <a:pt x="0" y="835767"/>
                      <a:pt x="0" y="772512"/>
                    </a:cubicBezTo>
                    <a:lnTo>
                      <a:pt x="0" y="114533"/>
                    </a:lnTo>
                    <a:cubicBezTo>
                      <a:pt x="0" y="51278"/>
                      <a:pt x="51278" y="0"/>
                      <a:pt x="114533" y="0"/>
                    </a:cubicBezTo>
                    <a:close/>
                  </a:path>
                </a:pathLst>
              </a:custGeom>
              <a:solidFill>
                <a:srgbClr val="4386FA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57150"/>
                <a:ext cx="907949" cy="9441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431801" indent="-215900" lvl="1">
                  <a:lnSpc>
                    <a:spcPts val="2800"/>
                  </a:lnSpc>
                  <a:buFont typeface="Arial"/>
                  <a:buChar char="•"/>
                </a:pPr>
                <a:r>
                  <a:rPr lang="en-US" sz="2000">
                    <a:solidFill>
                      <a:srgbClr val="000000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Finalización de Diseños gráficos</a:t>
                </a: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6771612" y="5928972"/>
              <a:ext cx="4564401" cy="4490665"/>
              <a:chOff x="0" y="0"/>
              <a:chExt cx="901610" cy="887045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901610" cy="887045"/>
              </a:xfrm>
              <a:custGeom>
                <a:avLst/>
                <a:gdLst/>
                <a:ahLst/>
                <a:cxnLst/>
                <a:rect r="r" b="b" t="t" l="l"/>
                <a:pathLst>
                  <a:path h="887045" w="901610">
                    <a:moveTo>
                      <a:pt x="115338" y="0"/>
                    </a:moveTo>
                    <a:lnTo>
                      <a:pt x="786272" y="0"/>
                    </a:lnTo>
                    <a:cubicBezTo>
                      <a:pt x="849971" y="0"/>
                      <a:pt x="901610" y="51639"/>
                      <a:pt x="901610" y="115338"/>
                    </a:cubicBezTo>
                    <a:lnTo>
                      <a:pt x="901610" y="771707"/>
                    </a:lnTo>
                    <a:cubicBezTo>
                      <a:pt x="901610" y="802296"/>
                      <a:pt x="889458" y="831633"/>
                      <a:pt x="867828" y="853263"/>
                    </a:cubicBezTo>
                    <a:cubicBezTo>
                      <a:pt x="846198" y="874893"/>
                      <a:pt x="816861" y="887045"/>
                      <a:pt x="786272" y="887045"/>
                    </a:cubicBezTo>
                    <a:lnTo>
                      <a:pt x="115338" y="887045"/>
                    </a:lnTo>
                    <a:cubicBezTo>
                      <a:pt x="51639" y="887045"/>
                      <a:pt x="0" y="835406"/>
                      <a:pt x="0" y="771707"/>
                    </a:cubicBezTo>
                    <a:lnTo>
                      <a:pt x="0" y="115338"/>
                    </a:lnTo>
                    <a:cubicBezTo>
                      <a:pt x="0" y="51639"/>
                      <a:pt x="51639" y="0"/>
                      <a:pt x="115338" y="0"/>
                    </a:cubicBezTo>
                    <a:close/>
                  </a:path>
                </a:pathLst>
              </a:custGeom>
              <a:solidFill>
                <a:srgbClr val="B52E31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57150"/>
                <a:ext cx="901610" cy="94419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  <a:r>
                  <a:rPr lang="en-US" sz="2000">
                    <a:solidFill>
                      <a:srgbClr val="000000"/>
                    </a:solidFill>
                    <a:latin typeface="Glacial Indifference"/>
                    <a:ea typeface="Glacial Indifference"/>
                    <a:cs typeface="Glacial Indifference"/>
                    <a:sym typeface="Glacial Indifference"/>
                  </a:rPr>
                  <a:t>---</a:t>
                </a:r>
              </a:p>
            </p:txBody>
          </p:sp>
        </p:grpSp>
        <p:sp>
          <p:nvSpPr>
            <p:cNvPr name="AutoShape 18" id="18"/>
            <p:cNvSpPr/>
            <p:nvPr/>
          </p:nvSpPr>
          <p:spPr>
            <a:xfrm>
              <a:off x="6403312" y="1037167"/>
              <a:ext cx="0" cy="938247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>
              <a:off x="1358277" y="5763944"/>
              <a:ext cx="10020346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0" id="20"/>
            <p:cNvSpPr txBox="true"/>
            <p:nvPr/>
          </p:nvSpPr>
          <p:spPr>
            <a:xfrm rot="0">
              <a:off x="2632391" y="-76200"/>
              <a:ext cx="2218842" cy="783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00"/>
                </a:lnSpc>
              </a:pPr>
              <a:r>
                <a:rPr lang="en-US" sz="3500" b="true">
                  <a:solidFill>
                    <a:srgbClr val="444C5C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Urgente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7502141" y="-76200"/>
              <a:ext cx="3103342" cy="783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00"/>
                </a:lnSpc>
              </a:pPr>
              <a:r>
                <a:rPr lang="en-US" sz="3500" b="true">
                  <a:solidFill>
                    <a:srgbClr val="444C5C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No Urgente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-5400000">
              <a:off x="-1236288" y="2988316"/>
              <a:ext cx="3103342" cy="783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00"/>
                </a:lnSpc>
              </a:pPr>
              <a:r>
                <a:rPr lang="en-US" sz="3500" b="true">
                  <a:solidFill>
                    <a:srgbClr val="444C5C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Importante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-5400000">
              <a:off x="-1665632" y="7782721"/>
              <a:ext cx="3962032" cy="783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00"/>
                </a:lnSpc>
              </a:pPr>
              <a:r>
                <a:rPr lang="en-US" sz="3500" b="true">
                  <a:solidFill>
                    <a:srgbClr val="444C5C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No Importante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435" r="-11961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909227" y="4350602"/>
            <a:ext cx="5023681" cy="1105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20"/>
              </a:lnSpc>
              <a:spcBef>
                <a:spcPct val="0"/>
              </a:spcBef>
            </a:pPr>
            <a:r>
              <a:rPr lang="en-US" b="true" sz="8000" u="none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DAG2cB6RR0Y</dc:identifier>
  <dcterms:modified xsi:type="dcterms:W3CDTF">2011-08-01T06:04:30Z</dcterms:modified>
  <cp:revision>1</cp:revision>
  <dc:title>Proyecto APT - Fase 2</dc:title>
</cp:coreProperties>
</file>